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74" r:id="rId3"/>
    <p:sldId id="275" r:id="rId4"/>
    <p:sldId id="276" r:id="rId5"/>
    <p:sldId id="277" r:id="rId6"/>
    <p:sldId id="278" r:id="rId7"/>
    <p:sldId id="261" r:id="rId8"/>
    <p:sldId id="258" r:id="rId9"/>
    <p:sldId id="259" r:id="rId10"/>
    <p:sldId id="257" r:id="rId11"/>
    <p:sldId id="27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F17B1-EAD9-FCAC-27A6-AC7B6FDE03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93BC7EA-5733-6F27-9D80-BE09EA93D0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18A20F-4760-4B63-AC46-122873812251}"/>
              </a:ext>
            </a:extLst>
          </p:cNvPr>
          <p:cNvSpPr>
            <a:spLocks noGrp="1"/>
          </p:cNvSpPr>
          <p:nvPr>
            <p:ph type="dt" sz="half" idx="10"/>
          </p:nvPr>
        </p:nvSpPr>
        <p:spPr/>
        <p:txBody>
          <a:bodyPr/>
          <a:lstStyle/>
          <a:p>
            <a:fld id="{3A94048F-EDAA-4439-B95A-2F54D7ABCC43}" type="datetimeFigureOut">
              <a:rPr lang="en-IN" smtClean="0"/>
              <a:t>03-02-2026</a:t>
            </a:fld>
            <a:endParaRPr lang="en-IN"/>
          </a:p>
        </p:txBody>
      </p:sp>
      <p:sp>
        <p:nvSpPr>
          <p:cNvPr id="5" name="Footer Placeholder 4">
            <a:extLst>
              <a:ext uri="{FF2B5EF4-FFF2-40B4-BE49-F238E27FC236}">
                <a16:creationId xmlns:a16="http://schemas.microsoft.com/office/drawing/2014/main" id="{4F771612-E0A5-4E0D-3062-8F5ADF53C2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DB88D8-DD93-9E50-4A3D-B763752BBA32}"/>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3824947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5E2DD-E604-FF13-A001-9AF03BBF1E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7F683D-220C-5C7F-C4A5-6CEB70B2BE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E79226-9963-B3B8-B864-978743EEA50E}"/>
              </a:ext>
            </a:extLst>
          </p:cNvPr>
          <p:cNvSpPr>
            <a:spLocks noGrp="1"/>
          </p:cNvSpPr>
          <p:nvPr>
            <p:ph type="dt" sz="half" idx="10"/>
          </p:nvPr>
        </p:nvSpPr>
        <p:spPr/>
        <p:txBody>
          <a:bodyPr/>
          <a:lstStyle/>
          <a:p>
            <a:fld id="{3A94048F-EDAA-4439-B95A-2F54D7ABCC43}" type="datetimeFigureOut">
              <a:rPr lang="en-IN" smtClean="0"/>
              <a:t>03-02-2026</a:t>
            </a:fld>
            <a:endParaRPr lang="en-IN"/>
          </a:p>
        </p:txBody>
      </p:sp>
      <p:sp>
        <p:nvSpPr>
          <p:cNvPr id="5" name="Footer Placeholder 4">
            <a:extLst>
              <a:ext uri="{FF2B5EF4-FFF2-40B4-BE49-F238E27FC236}">
                <a16:creationId xmlns:a16="http://schemas.microsoft.com/office/drawing/2014/main" id="{799ED0EE-7C7E-F592-8FE5-E20DB80C8F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71B1F8-BBE1-4C4E-9C6F-135B61650788}"/>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3328147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66AB5-8A57-FA45-B952-C551DC9FF8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5DA50E-1CAD-E8F8-106B-F4639F8431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F000A1-13B6-1588-4976-F7272813F7A9}"/>
              </a:ext>
            </a:extLst>
          </p:cNvPr>
          <p:cNvSpPr>
            <a:spLocks noGrp="1"/>
          </p:cNvSpPr>
          <p:nvPr>
            <p:ph type="dt" sz="half" idx="10"/>
          </p:nvPr>
        </p:nvSpPr>
        <p:spPr/>
        <p:txBody>
          <a:bodyPr/>
          <a:lstStyle/>
          <a:p>
            <a:fld id="{3A94048F-EDAA-4439-B95A-2F54D7ABCC43}" type="datetimeFigureOut">
              <a:rPr lang="en-IN" smtClean="0"/>
              <a:t>03-02-2026</a:t>
            </a:fld>
            <a:endParaRPr lang="en-IN"/>
          </a:p>
        </p:txBody>
      </p:sp>
      <p:sp>
        <p:nvSpPr>
          <p:cNvPr id="5" name="Footer Placeholder 4">
            <a:extLst>
              <a:ext uri="{FF2B5EF4-FFF2-40B4-BE49-F238E27FC236}">
                <a16:creationId xmlns:a16="http://schemas.microsoft.com/office/drawing/2014/main" id="{838CECD8-B12C-8260-5948-EF48817A14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7DF810-E3E3-588B-8A99-176E702C2023}"/>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4049226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5055A-207B-E443-9C98-69C7F8C77E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66F7E4-82E4-B8DA-539A-5A44AB3828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EC45DD-88BE-CFC3-1A4B-8D99B14DBC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5BFD1F8-5942-51F5-2AFE-1C6D03219D38}"/>
              </a:ext>
            </a:extLst>
          </p:cNvPr>
          <p:cNvSpPr>
            <a:spLocks noGrp="1"/>
          </p:cNvSpPr>
          <p:nvPr>
            <p:ph type="dt" sz="half" idx="10"/>
          </p:nvPr>
        </p:nvSpPr>
        <p:spPr/>
        <p:txBody>
          <a:bodyPr/>
          <a:lstStyle/>
          <a:p>
            <a:fld id="{3A94048F-EDAA-4439-B95A-2F54D7ABCC43}" type="datetimeFigureOut">
              <a:rPr lang="en-IN" smtClean="0"/>
              <a:t>03-02-2026</a:t>
            </a:fld>
            <a:endParaRPr lang="en-IN"/>
          </a:p>
        </p:txBody>
      </p:sp>
      <p:sp>
        <p:nvSpPr>
          <p:cNvPr id="6" name="Footer Placeholder 5">
            <a:extLst>
              <a:ext uri="{FF2B5EF4-FFF2-40B4-BE49-F238E27FC236}">
                <a16:creationId xmlns:a16="http://schemas.microsoft.com/office/drawing/2014/main" id="{0DDD98B4-1463-662B-7584-B330DECEC2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8841C7-1B84-F0D2-0223-5686F031C4EA}"/>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1301192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E0C7F-EBE2-E833-3224-0F7406F68A6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7A045D-944F-E234-F0A2-CCBBC3C083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8B7B39-4A1A-FB26-E3EE-4D3734266A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943433-EB24-4100-5468-EBDF437F86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82A68E-9407-B58E-5819-FF7C99A348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33886B-22EE-F505-39E6-16ECB4E0D1C7}"/>
              </a:ext>
            </a:extLst>
          </p:cNvPr>
          <p:cNvSpPr>
            <a:spLocks noGrp="1"/>
          </p:cNvSpPr>
          <p:nvPr>
            <p:ph type="dt" sz="half" idx="10"/>
          </p:nvPr>
        </p:nvSpPr>
        <p:spPr/>
        <p:txBody>
          <a:bodyPr/>
          <a:lstStyle/>
          <a:p>
            <a:fld id="{3A94048F-EDAA-4439-B95A-2F54D7ABCC43}" type="datetimeFigureOut">
              <a:rPr lang="en-IN" smtClean="0"/>
              <a:t>03-02-2026</a:t>
            </a:fld>
            <a:endParaRPr lang="en-IN"/>
          </a:p>
        </p:txBody>
      </p:sp>
      <p:sp>
        <p:nvSpPr>
          <p:cNvPr id="8" name="Footer Placeholder 7">
            <a:extLst>
              <a:ext uri="{FF2B5EF4-FFF2-40B4-BE49-F238E27FC236}">
                <a16:creationId xmlns:a16="http://schemas.microsoft.com/office/drawing/2014/main" id="{7A9444F1-9DB9-4745-0FAF-1C1A1FB93B8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C95199-C7BF-0CC4-16C5-3F423248F2E9}"/>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2827440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39345-F75E-05F3-902E-343F02E712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D04D8EC-BE32-3F3F-87E6-87303D02CE89}"/>
              </a:ext>
            </a:extLst>
          </p:cNvPr>
          <p:cNvSpPr>
            <a:spLocks noGrp="1"/>
          </p:cNvSpPr>
          <p:nvPr>
            <p:ph type="dt" sz="half" idx="10"/>
          </p:nvPr>
        </p:nvSpPr>
        <p:spPr/>
        <p:txBody>
          <a:bodyPr/>
          <a:lstStyle/>
          <a:p>
            <a:fld id="{3A94048F-EDAA-4439-B95A-2F54D7ABCC43}" type="datetimeFigureOut">
              <a:rPr lang="en-IN" smtClean="0"/>
              <a:t>03-02-2026</a:t>
            </a:fld>
            <a:endParaRPr lang="en-IN"/>
          </a:p>
        </p:txBody>
      </p:sp>
      <p:sp>
        <p:nvSpPr>
          <p:cNvPr id="4" name="Footer Placeholder 3">
            <a:extLst>
              <a:ext uri="{FF2B5EF4-FFF2-40B4-BE49-F238E27FC236}">
                <a16:creationId xmlns:a16="http://schemas.microsoft.com/office/drawing/2014/main" id="{E3BC903B-FBFE-2A81-F5EC-48AE530B2F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D09F130-793E-F9EA-7181-D6D7A9FB00F1}"/>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709520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B2B3BE-46AB-BB85-D4CA-0E2FBD3A661E}"/>
              </a:ext>
            </a:extLst>
          </p:cNvPr>
          <p:cNvSpPr>
            <a:spLocks noGrp="1"/>
          </p:cNvSpPr>
          <p:nvPr>
            <p:ph type="dt" sz="half" idx="10"/>
          </p:nvPr>
        </p:nvSpPr>
        <p:spPr/>
        <p:txBody>
          <a:bodyPr/>
          <a:lstStyle/>
          <a:p>
            <a:fld id="{3A94048F-EDAA-4439-B95A-2F54D7ABCC43}" type="datetimeFigureOut">
              <a:rPr lang="en-IN" smtClean="0"/>
              <a:t>03-02-2026</a:t>
            </a:fld>
            <a:endParaRPr lang="en-IN"/>
          </a:p>
        </p:txBody>
      </p:sp>
      <p:sp>
        <p:nvSpPr>
          <p:cNvPr id="3" name="Footer Placeholder 2">
            <a:extLst>
              <a:ext uri="{FF2B5EF4-FFF2-40B4-BE49-F238E27FC236}">
                <a16:creationId xmlns:a16="http://schemas.microsoft.com/office/drawing/2014/main" id="{5DC36C4E-AE46-0128-A1DD-03B99361D43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C5E07E9-EA41-0006-4A42-845EB4034AB7}"/>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3713963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77A8D-A00A-FA31-092F-C09E9D4377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AD929F-52E0-A2DF-4234-B82546A958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364A80-A9DD-EA8F-637B-D459E8CEAE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8A1B97-3499-A61C-54DA-654E3542D301}"/>
              </a:ext>
            </a:extLst>
          </p:cNvPr>
          <p:cNvSpPr>
            <a:spLocks noGrp="1"/>
          </p:cNvSpPr>
          <p:nvPr>
            <p:ph type="dt" sz="half" idx="10"/>
          </p:nvPr>
        </p:nvSpPr>
        <p:spPr/>
        <p:txBody>
          <a:bodyPr/>
          <a:lstStyle/>
          <a:p>
            <a:fld id="{3A94048F-EDAA-4439-B95A-2F54D7ABCC43}" type="datetimeFigureOut">
              <a:rPr lang="en-IN" smtClean="0"/>
              <a:t>03-02-2026</a:t>
            </a:fld>
            <a:endParaRPr lang="en-IN"/>
          </a:p>
        </p:txBody>
      </p:sp>
      <p:sp>
        <p:nvSpPr>
          <p:cNvPr id="6" name="Footer Placeholder 5">
            <a:extLst>
              <a:ext uri="{FF2B5EF4-FFF2-40B4-BE49-F238E27FC236}">
                <a16:creationId xmlns:a16="http://schemas.microsoft.com/office/drawing/2014/main" id="{5134D9CA-30BC-95F9-A6D6-D3ADAFABA3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8881EA-B455-78F8-D123-FC5407C0D2C5}"/>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1806200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B565C-FCFF-3737-63A3-D4DFCE83B0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6F96A4A-05A5-545E-EC9F-FE259A320F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1E80E65-957B-4741-DAC6-B4D2247296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2914C3-5EC0-8180-581A-0366CFFDF668}"/>
              </a:ext>
            </a:extLst>
          </p:cNvPr>
          <p:cNvSpPr>
            <a:spLocks noGrp="1"/>
          </p:cNvSpPr>
          <p:nvPr>
            <p:ph type="dt" sz="half" idx="10"/>
          </p:nvPr>
        </p:nvSpPr>
        <p:spPr/>
        <p:txBody>
          <a:bodyPr/>
          <a:lstStyle/>
          <a:p>
            <a:fld id="{3A94048F-EDAA-4439-B95A-2F54D7ABCC43}" type="datetimeFigureOut">
              <a:rPr lang="en-IN" smtClean="0"/>
              <a:t>03-02-2026</a:t>
            </a:fld>
            <a:endParaRPr lang="en-IN"/>
          </a:p>
        </p:txBody>
      </p:sp>
      <p:sp>
        <p:nvSpPr>
          <p:cNvPr id="6" name="Footer Placeholder 5">
            <a:extLst>
              <a:ext uri="{FF2B5EF4-FFF2-40B4-BE49-F238E27FC236}">
                <a16:creationId xmlns:a16="http://schemas.microsoft.com/office/drawing/2014/main" id="{E269BF0D-3345-C0D0-C30B-731062033B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CC2309-5030-98D4-DE5B-9106E62EFF37}"/>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4138154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3CF43-7444-B576-B13B-BC5EEF8DB44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5DA64B-5A24-4AE0-8E83-F613BF5BEF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CADB50-1520-DBEF-06E5-9322A08A3AFB}"/>
              </a:ext>
            </a:extLst>
          </p:cNvPr>
          <p:cNvSpPr>
            <a:spLocks noGrp="1"/>
          </p:cNvSpPr>
          <p:nvPr>
            <p:ph type="dt" sz="half" idx="10"/>
          </p:nvPr>
        </p:nvSpPr>
        <p:spPr/>
        <p:txBody>
          <a:bodyPr/>
          <a:lstStyle/>
          <a:p>
            <a:fld id="{3A94048F-EDAA-4439-B95A-2F54D7ABCC43}" type="datetimeFigureOut">
              <a:rPr lang="en-IN" smtClean="0"/>
              <a:t>03-02-2026</a:t>
            </a:fld>
            <a:endParaRPr lang="en-IN"/>
          </a:p>
        </p:txBody>
      </p:sp>
      <p:sp>
        <p:nvSpPr>
          <p:cNvPr id="5" name="Footer Placeholder 4">
            <a:extLst>
              <a:ext uri="{FF2B5EF4-FFF2-40B4-BE49-F238E27FC236}">
                <a16:creationId xmlns:a16="http://schemas.microsoft.com/office/drawing/2014/main" id="{EB68CE68-963B-E870-126B-AB835D251B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38CFBF-6193-1445-45B5-B5D394C93EBE}"/>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2856497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9FD905-378C-9A47-C9B3-2F406193EB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03DFCC-410D-8852-C907-4D9B44F1D7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9A5880-F804-82A4-66F0-838E47AACD1F}"/>
              </a:ext>
            </a:extLst>
          </p:cNvPr>
          <p:cNvSpPr>
            <a:spLocks noGrp="1"/>
          </p:cNvSpPr>
          <p:nvPr>
            <p:ph type="dt" sz="half" idx="10"/>
          </p:nvPr>
        </p:nvSpPr>
        <p:spPr/>
        <p:txBody>
          <a:bodyPr/>
          <a:lstStyle/>
          <a:p>
            <a:fld id="{3A94048F-EDAA-4439-B95A-2F54D7ABCC43}" type="datetimeFigureOut">
              <a:rPr lang="en-IN" smtClean="0"/>
              <a:t>03-02-2026</a:t>
            </a:fld>
            <a:endParaRPr lang="en-IN"/>
          </a:p>
        </p:txBody>
      </p:sp>
      <p:sp>
        <p:nvSpPr>
          <p:cNvPr id="5" name="Footer Placeholder 4">
            <a:extLst>
              <a:ext uri="{FF2B5EF4-FFF2-40B4-BE49-F238E27FC236}">
                <a16:creationId xmlns:a16="http://schemas.microsoft.com/office/drawing/2014/main" id="{436F20D2-67C1-E8D9-7E45-4921259980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2F48DA-BF67-2AF7-7032-A516E80B393E}"/>
              </a:ext>
            </a:extLst>
          </p:cNvPr>
          <p:cNvSpPr>
            <a:spLocks noGrp="1"/>
          </p:cNvSpPr>
          <p:nvPr>
            <p:ph type="sldNum" sz="quarter" idx="12"/>
          </p:nvPr>
        </p:nvSpPr>
        <p:spPr/>
        <p:txBody>
          <a:bodyPr/>
          <a:lstStyle/>
          <a:p>
            <a:fld id="{4901FC82-F333-48EE-8CA3-77D9CB4D9143}" type="slidenum">
              <a:rPr lang="en-IN" smtClean="0"/>
              <a:t>‹#›</a:t>
            </a:fld>
            <a:endParaRPr lang="en-IN"/>
          </a:p>
        </p:txBody>
      </p:sp>
    </p:spTree>
    <p:extLst>
      <p:ext uri="{BB962C8B-B14F-4D97-AF65-F5344CB8AC3E}">
        <p14:creationId xmlns:p14="http://schemas.microsoft.com/office/powerpoint/2010/main" val="691619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51DB56-B906-742B-37EA-F9514934C8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CA1173-16AE-A892-AEBA-A9B9EB8EE1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BD04A6-4F51-EECE-8190-7420AB2F20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94048F-EDAA-4439-B95A-2F54D7ABCC43}" type="datetimeFigureOut">
              <a:rPr lang="en-IN" smtClean="0"/>
              <a:t>03-02-2026</a:t>
            </a:fld>
            <a:endParaRPr lang="en-IN"/>
          </a:p>
        </p:txBody>
      </p:sp>
      <p:sp>
        <p:nvSpPr>
          <p:cNvPr id="5" name="Footer Placeholder 4">
            <a:extLst>
              <a:ext uri="{FF2B5EF4-FFF2-40B4-BE49-F238E27FC236}">
                <a16:creationId xmlns:a16="http://schemas.microsoft.com/office/drawing/2014/main" id="{FBA1FDC0-E7DE-050D-62A9-59CEFACF90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B8E88A3-E921-0689-BC44-87955180A5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01FC82-F333-48EE-8CA3-77D9CB4D9143}" type="slidenum">
              <a:rPr lang="en-IN" smtClean="0"/>
              <a:t>‹#›</a:t>
            </a:fld>
            <a:endParaRPr lang="en-IN"/>
          </a:p>
        </p:txBody>
      </p:sp>
    </p:spTree>
    <p:extLst>
      <p:ext uri="{BB962C8B-B14F-4D97-AF65-F5344CB8AC3E}">
        <p14:creationId xmlns:p14="http://schemas.microsoft.com/office/powerpoint/2010/main" val="779701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D578B7-033B-4A9B-706B-8F5D41CBAFBE}"/>
              </a:ext>
            </a:extLst>
          </p:cNvPr>
          <p:cNvSpPr txBox="1"/>
          <p:nvPr/>
        </p:nvSpPr>
        <p:spPr>
          <a:xfrm>
            <a:off x="924232" y="1905903"/>
            <a:ext cx="6096000" cy="923330"/>
          </a:xfrm>
          <a:prstGeom prst="rect">
            <a:avLst/>
          </a:prstGeom>
          <a:noFill/>
        </p:spPr>
        <p:txBody>
          <a:bodyPr wrap="square">
            <a:spAutoFit/>
          </a:bodyPr>
          <a:lstStyle/>
          <a:p>
            <a:r>
              <a:rPr lang="en-IN" dirty="0"/>
              <a:t>VS Code installation: </a:t>
            </a:r>
            <a:r>
              <a:rPr lang="en-IN" dirty="0" err="1"/>
              <a:t>Youtube</a:t>
            </a:r>
            <a:r>
              <a:rPr lang="en-IN" dirty="0"/>
              <a:t> video link</a:t>
            </a:r>
          </a:p>
          <a:p>
            <a:endParaRPr lang="en-IN" dirty="0"/>
          </a:p>
          <a:p>
            <a:r>
              <a:rPr lang="en-IN" dirty="0"/>
              <a:t>https://www.youtube.com/watch?v=cu_ykIfBprI</a:t>
            </a:r>
          </a:p>
        </p:txBody>
      </p:sp>
      <p:sp>
        <p:nvSpPr>
          <p:cNvPr id="5" name="TextBox 4">
            <a:extLst>
              <a:ext uri="{FF2B5EF4-FFF2-40B4-BE49-F238E27FC236}">
                <a16:creationId xmlns:a16="http://schemas.microsoft.com/office/drawing/2014/main" id="{1A4A2F0A-1D52-4D49-FBC0-B8D9DA8DE979}"/>
              </a:ext>
            </a:extLst>
          </p:cNvPr>
          <p:cNvSpPr txBox="1"/>
          <p:nvPr/>
        </p:nvSpPr>
        <p:spPr>
          <a:xfrm>
            <a:off x="924232" y="3714135"/>
            <a:ext cx="6096000" cy="923330"/>
          </a:xfrm>
          <a:prstGeom prst="rect">
            <a:avLst/>
          </a:prstGeom>
          <a:noFill/>
        </p:spPr>
        <p:txBody>
          <a:bodyPr wrap="square">
            <a:spAutoFit/>
          </a:bodyPr>
          <a:lstStyle/>
          <a:p>
            <a:r>
              <a:rPr lang="en-IN" dirty="0"/>
              <a:t>Python installation: </a:t>
            </a:r>
            <a:r>
              <a:rPr lang="en-IN" dirty="0" err="1"/>
              <a:t>Youtube</a:t>
            </a:r>
            <a:r>
              <a:rPr lang="en-IN" dirty="0"/>
              <a:t> video link</a:t>
            </a:r>
          </a:p>
          <a:p>
            <a:endParaRPr lang="en-IN" dirty="0"/>
          </a:p>
          <a:p>
            <a:r>
              <a:rPr lang="en-IN" dirty="0"/>
              <a:t>https://www.youtube.com/watch?v=ddGTXBhaGWA</a:t>
            </a:r>
          </a:p>
        </p:txBody>
      </p:sp>
      <p:sp>
        <p:nvSpPr>
          <p:cNvPr id="2" name="Rectangle 1">
            <a:extLst>
              <a:ext uri="{FF2B5EF4-FFF2-40B4-BE49-F238E27FC236}">
                <a16:creationId xmlns:a16="http://schemas.microsoft.com/office/drawing/2014/main" id="{01850080-77D4-2BB1-60B7-AD5D70CFDC05}"/>
              </a:ext>
            </a:extLst>
          </p:cNvPr>
          <p:cNvSpPr/>
          <p:nvPr/>
        </p:nvSpPr>
        <p:spPr>
          <a:xfrm>
            <a:off x="1337187" y="363793"/>
            <a:ext cx="9566788" cy="74109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a:ln w="0"/>
                <a:solidFill>
                  <a:schemeClr val="tx1"/>
                </a:solidFill>
                <a:effectLst>
                  <a:outerShdw blurRad="38100" dist="19050" dir="2700000" algn="tl" rotWithShape="0">
                    <a:schemeClr val="dk1">
                      <a:alpha val="40000"/>
                    </a:schemeClr>
                  </a:outerShdw>
                </a:effectLst>
              </a:rPr>
              <a:t>These are the Required Installation in your system to develop this project.</a:t>
            </a:r>
          </a:p>
        </p:txBody>
      </p:sp>
    </p:spTree>
    <p:extLst>
      <p:ext uri="{BB962C8B-B14F-4D97-AF65-F5344CB8AC3E}">
        <p14:creationId xmlns:p14="http://schemas.microsoft.com/office/powerpoint/2010/main" val="1687031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09148A-CB47-2855-B349-10A9CE715646}"/>
              </a:ext>
            </a:extLst>
          </p:cNvPr>
          <p:cNvSpPr txBox="1"/>
          <p:nvPr/>
        </p:nvSpPr>
        <p:spPr>
          <a:xfrm>
            <a:off x="285135" y="0"/>
            <a:ext cx="10117393" cy="1015663"/>
          </a:xfrm>
          <a:prstGeom prst="rect">
            <a:avLst/>
          </a:prstGeom>
          <a:noFill/>
        </p:spPr>
        <p:txBody>
          <a:bodyPr wrap="square">
            <a:spAutoFit/>
          </a:bodyPr>
          <a:lstStyle/>
          <a:p>
            <a:pPr>
              <a:buNone/>
            </a:pPr>
            <a:r>
              <a:rPr lang="en-IN" dirty="0"/>
              <a:t>This is an 8 weeks Project</a:t>
            </a:r>
          </a:p>
          <a:p>
            <a:pPr>
              <a:buNone/>
            </a:pPr>
            <a:endParaRPr lang="en-IN" dirty="0"/>
          </a:p>
          <a:p>
            <a:pPr>
              <a:buNone/>
            </a:pPr>
            <a:r>
              <a:rPr lang="en-IN" sz="2400" b="1" dirty="0"/>
              <a:t>Project: </a:t>
            </a:r>
            <a:r>
              <a:rPr lang="en-US" b="1" dirty="0"/>
              <a:t>AI Enabled Recommendation Engine for an E-commerce Platform</a:t>
            </a:r>
          </a:p>
        </p:txBody>
      </p:sp>
    </p:spTree>
    <p:extLst>
      <p:ext uri="{BB962C8B-B14F-4D97-AF65-F5344CB8AC3E}">
        <p14:creationId xmlns:p14="http://schemas.microsoft.com/office/powerpoint/2010/main" val="2138595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86EDF0-08E5-FC1D-06C6-D4DA68D0BF58}"/>
              </a:ext>
            </a:extLst>
          </p:cNvPr>
          <p:cNvSpPr txBox="1"/>
          <p:nvPr/>
        </p:nvSpPr>
        <p:spPr>
          <a:xfrm>
            <a:off x="599768" y="587843"/>
            <a:ext cx="9370142" cy="5909310"/>
          </a:xfrm>
          <a:prstGeom prst="rect">
            <a:avLst/>
          </a:prstGeom>
          <a:noFill/>
        </p:spPr>
        <p:txBody>
          <a:bodyPr wrap="square">
            <a:spAutoFit/>
          </a:bodyPr>
          <a:lstStyle/>
          <a:p>
            <a:r>
              <a:rPr lang="en-US" sz="1800" dirty="0"/>
              <a:t>What is recommendation system</a:t>
            </a:r>
            <a:br>
              <a:rPr lang="en-US" sz="1800" dirty="0"/>
            </a:br>
            <a:br>
              <a:rPr lang="en-US" sz="1800" dirty="0"/>
            </a:br>
            <a:r>
              <a:rPr lang="en-US" sz="1800" dirty="0"/>
              <a:t>A recommendation system is an AI system that predicts what a user will like. It learns from user activity, browsing, purchases, and item similarities. Then it shows personalized suggestions like Amazon’s product list or Netflix’s movie list.</a:t>
            </a:r>
          </a:p>
          <a:p>
            <a:endParaRPr lang="en-US" dirty="0"/>
          </a:p>
          <a:p>
            <a:r>
              <a:rPr lang="en-US" dirty="0"/>
              <a:t>A recommendation system is an AI system that learns what a user likes and suggests items that they are most likely to buy.</a:t>
            </a:r>
          </a:p>
          <a:p>
            <a:endParaRPr lang="en-US" dirty="0"/>
          </a:p>
          <a:p>
            <a:endParaRPr lang="en-US" dirty="0"/>
          </a:p>
          <a:p>
            <a:r>
              <a:rPr lang="en-US" dirty="0"/>
              <a:t>R</a:t>
            </a:r>
            <a:r>
              <a:rPr lang="en-US" b="1" dirty="0"/>
              <a:t>eal-Life Examples</a:t>
            </a:r>
          </a:p>
          <a:p>
            <a:r>
              <a:rPr lang="en-US" dirty="0"/>
              <a:t>Use examples everyone understands:</a:t>
            </a:r>
          </a:p>
          <a:p>
            <a:r>
              <a:rPr lang="en-US" b="1" dirty="0"/>
              <a:t>Amazon</a:t>
            </a:r>
            <a:r>
              <a:rPr lang="en-US" dirty="0"/>
              <a:t> suggesting products</a:t>
            </a:r>
          </a:p>
          <a:p>
            <a:r>
              <a:rPr lang="en-US" b="1" dirty="0"/>
              <a:t>Netflix</a:t>
            </a:r>
            <a:r>
              <a:rPr lang="en-US" dirty="0"/>
              <a:t> recommending movies</a:t>
            </a:r>
          </a:p>
          <a:p>
            <a:r>
              <a:rPr lang="en-US" b="1" dirty="0"/>
              <a:t>Spotify</a:t>
            </a:r>
            <a:r>
              <a:rPr lang="en-US" dirty="0"/>
              <a:t> giving song playlists</a:t>
            </a:r>
          </a:p>
          <a:p>
            <a:r>
              <a:rPr lang="en-US" b="1" dirty="0"/>
              <a:t>YouTube</a:t>
            </a:r>
            <a:r>
              <a:rPr lang="en-US" dirty="0"/>
              <a:t> suggesting videos</a:t>
            </a:r>
          </a:p>
          <a:p>
            <a:r>
              <a:rPr lang="en-US" b="1" dirty="0" err="1"/>
              <a:t>Nykaa</a:t>
            </a:r>
            <a:r>
              <a:rPr lang="en-US" b="1" dirty="0"/>
              <a:t>/Myntra</a:t>
            </a:r>
            <a:r>
              <a:rPr lang="en-US" dirty="0"/>
              <a:t> showing personalized products</a:t>
            </a:r>
          </a:p>
          <a:p>
            <a:r>
              <a:rPr lang="en-US" dirty="0"/>
              <a:t>Make it relatable:</a:t>
            </a:r>
          </a:p>
          <a:p>
            <a:r>
              <a:rPr lang="en-US" dirty="0"/>
              <a:t>“When you search once for shoes, suddenly you start seeing shoe recommendations everywhere — that’s the recommendation system at work.”</a:t>
            </a:r>
          </a:p>
          <a:p>
            <a:endParaRPr lang="en-IN" dirty="0"/>
          </a:p>
        </p:txBody>
      </p:sp>
    </p:spTree>
    <p:extLst>
      <p:ext uri="{BB962C8B-B14F-4D97-AF65-F5344CB8AC3E}">
        <p14:creationId xmlns:p14="http://schemas.microsoft.com/office/powerpoint/2010/main" val="3573794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40EC55-F132-8775-B16A-F73E96476573}"/>
              </a:ext>
            </a:extLst>
          </p:cNvPr>
          <p:cNvSpPr txBox="1"/>
          <p:nvPr/>
        </p:nvSpPr>
        <p:spPr>
          <a:xfrm>
            <a:off x="865238" y="427984"/>
            <a:ext cx="11031793" cy="5909310"/>
          </a:xfrm>
          <a:prstGeom prst="rect">
            <a:avLst/>
          </a:prstGeom>
          <a:noFill/>
        </p:spPr>
        <p:txBody>
          <a:bodyPr wrap="square">
            <a:spAutoFit/>
          </a:bodyPr>
          <a:lstStyle/>
          <a:p>
            <a:pPr>
              <a:buNone/>
            </a:pPr>
            <a:r>
              <a:rPr lang="en-US" b="1" dirty="0"/>
              <a:t>Why Do Companies Use Recommendation Systems?</a:t>
            </a:r>
          </a:p>
          <a:p>
            <a:pPr>
              <a:buNone/>
            </a:pPr>
            <a:r>
              <a:rPr lang="en-US" dirty="0"/>
              <a:t>Explain the purpose:</a:t>
            </a:r>
          </a:p>
          <a:p>
            <a:pPr>
              <a:buFont typeface="Arial" panose="020B0604020202020204" pitchFamily="34" charset="0"/>
              <a:buChar char="•"/>
            </a:pPr>
            <a:r>
              <a:rPr lang="en-US" dirty="0"/>
              <a:t>To increase </a:t>
            </a:r>
            <a:r>
              <a:rPr lang="en-US" b="1" dirty="0"/>
              <a:t>sales</a:t>
            </a:r>
            <a:endParaRPr lang="en-US" dirty="0"/>
          </a:p>
          <a:p>
            <a:pPr>
              <a:buFont typeface="Arial" panose="020B0604020202020204" pitchFamily="34" charset="0"/>
              <a:buChar char="•"/>
            </a:pPr>
            <a:r>
              <a:rPr lang="en-US" dirty="0"/>
              <a:t>To improve </a:t>
            </a:r>
            <a:r>
              <a:rPr lang="en-US" b="1" dirty="0"/>
              <a:t>user experience</a:t>
            </a:r>
            <a:endParaRPr lang="en-US" dirty="0"/>
          </a:p>
          <a:p>
            <a:pPr>
              <a:buFont typeface="Arial" panose="020B0604020202020204" pitchFamily="34" charset="0"/>
              <a:buChar char="•"/>
            </a:pPr>
            <a:r>
              <a:rPr lang="en-US" dirty="0"/>
              <a:t>To keep users engaged for longer</a:t>
            </a:r>
          </a:p>
          <a:p>
            <a:pPr>
              <a:buFont typeface="Arial" panose="020B0604020202020204" pitchFamily="34" charset="0"/>
              <a:buChar char="•"/>
            </a:pPr>
            <a:r>
              <a:rPr lang="en-US" dirty="0"/>
              <a:t>To show </a:t>
            </a:r>
            <a:r>
              <a:rPr lang="en-US" b="1" dirty="0"/>
              <a:t>relevant</a:t>
            </a:r>
            <a:r>
              <a:rPr lang="en-US" dirty="0"/>
              <a:t> content instead of random items</a:t>
            </a:r>
          </a:p>
          <a:p>
            <a:pPr>
              <a:buNone/>
            </a:pPr>
            <a:r>
              <a:rPr lang="en-US" dirty="0"/>
              <a:t>Example:</a:t>
            </a:r>
          </a:p>
          <a:p>
            <a:pPr>
              <a:buNone/>
            </a:pPr>
            <a:r>
              <a:rPr lang="en-US" dirty="0"/>
              <a:t>Netflix says 80% of movies watched come from recommendations.</a:t>
            </a:r>
          </a:p>
          <a:p>
            <a:pPr>
              <a:buNone/>
            </a:pPr>
            <a:endParaRPr lang="en-US" dirty="0"/>
          </a:p>
          <a:p>
            <a:r>
              <a:rPr lang="en-US" b="1" dirty="0"/>
              <a:t>What Inputs Do Recommendation Systems Use?</a:t>
            </a:r>
          </a:p>
          <a:p>
            <a:r>
              <a:rPr lang="en-US" dirty="0"/>
              <a:t>Tell them what data goes in:</a:t>
            </a:r>
          </a:p>
          <a:p>
            <a:r>
              <a:rPr lang="en-US" dirty="0"/>
              <a:t>User's past purchases</a:t>
            </a:r>
          </a:p>
          <a:p>
            <a:r>
              <a:rPr lang="en-US" dirty="0"/>
              <a:t>Browsing history</a:t>
            </a:r>
          </a:p>
          <a:p>
            <a:r>
              <a:rPr lang="en-US" dirty="0"/>
              <a:t>Ratings &amp; reviews</a:t>
            </a:r>
          </a:p>
          <a:p>
            <a:r>
              <a:rPr lang="en-US" dirty="0"/>
              <a:t>Items clicked or added to cart</a:t>
            </a:r>
          </a:p>
          <a:p>
            <a:r>
              <a:rPr lang="en-US" dirty="0"/>
              <a:t>Similar users’ behavior</a:t>
            </a:r>
          </a:p>
          <a:p>
            <a:r>
              <a:rPr lang="en-US" dirty="0"/>
              <a:t>Item characteristics (price, category, brand, etc.)</a:t>
            </a:r>
          </a:p>
          <a:p>
            <a:endParaRPr lang="en-US" dirty="0"/>
          </a:p>
          <a:p>
            <a:r>
              <a:rPr lang="en-US" dirty="0"/>
              <a:t>USER A AND USER B</a:t>
            </a:r>
          </a:p>
          <a:p>
            <a:endParaRPr lang="en-US" dirty="0"/>
          </a:p>
          <a:p>
            <a:pPr>
              <a:buNone/>
            </a:pPr>
            <a:endParaRPr lang="en-US" dirty="0"/>
          </a:p>
        </p:txBody>
      </p:sp>
    </p:spTree>
    <p:extLst>
      <p:ext uri="{BB962C8B-B14F-4D97-AF65-F5344CB8AC3E}">
        <p14:creationId xmlns:p14="http://schemas.microsoft.com/office/powerpoint/2010/main" val="1869710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520975-9FA8-2FA0-76BC-72BC65CFEE49}"/>
              </a:ext>
            </a:extLst>
          </p:cNvPr>
          <p:cNvSpPr txBox="1"/>
          <p:nvPr/>
        </p:nvSpPr>
        <p:spPr>
          <a:xfrm>
            <a:off x="668593" y="430527"/>
            <a:ext cx="8268929" cy="3170099"/>
          </a:xfrm>
          <a:prstGeom prst="rect">
            <a:avLst/>
          </a:prstGeom>
          <a:noFill/>
        </p:spPr>
        <p:txBody>
          <a:bodyPr wrap="square">
            <a:spAutoFit/>
          </a:bodyPr>
          <a:lstStyle/>
          <a:p>
            <a:pPr>
              <a:buNone/>
            </a:pPr>
            <a:r>
              <a:rPr lang="en-US" sz="2000" b="1" dirty="0"/>
              <a:t>Output of the System</a:t>
            </a:r>
          </a:p>
          <a:p>
            <a:pPr>
              <a:buNone/>
            </a:pPr>
            <a:r>
              <a:rPr lang="en-US" sz="2000" dirty="0"/>
              <a:t>What does the recommendation system produce?</a:t>
            </a:r>
          </a:p>
          <a:p>
            <a:pPr>
              <a:buFont typeface="Arial" panose="020B0604020202020204" pitchFamily="34" charset="0"/>
              <a:buChar char="•"/>
            </a:pPr>
            <a:r>
              <a:rPr lang="en-US" sz="2000" dirty="0"/>
              <a:t>“Recommended for You”</a:t>
            </a:r>
          </a:p>
          <a:p>
            <a:pPr>
              <a:buFont typeface="Arial" panose="020B0604020202020204" pitchFamily="34" charset="0"/>
              <a:buChar char="•"/>
            </a:pPr>
            <a:r>
              <a:rPr lang="en-US" sz="2000" dirty="0"/>
              <a:t>“Because you watched…”</a:t>
            </a:r>
          </a:p>
          <a:p>
            <a:pPr>
              <a:buFont typeface="Arial" panose="020B0604020202020204" pitchFamily="34" charset="0"/>
              <a:buChar char="•"/>
            </a:pPr>
            <a:r>
              <a:rPr lang="en-US" sz="2000" dirty="0"/>
              <a:t>“People who bought this also bought…”</a:t>
            </a:r>
          </a:p>
          <a:p>
            <a:pPr>
              <a:buFont typeface="Arial" panose="020B0604020202020204" pitchFamily="34" charset="0"/>
              <a:buChar char="•"/>
            </a:pPr>
            <a:r>
              <a:rPr lang="en-US" sz="2000" dirty="0"/>
              <a:t>“Top picks for you”</a:t>
            </a:r>
          </a:p>
          <a:p>
            <a:pPr>
              <a:buFont typeface="Arial" panose="020B0604020202020204" pitchFamily="34" charset="0"/>
              <a:buChar char="•"/>
            </a:pPr>
            <a:endParaRPr lang="en-US" sz="2000" dirty="0"/>
          </a:p>
          <a:p>
            <a:pPr>
              <a:buFont typeface="Arial" panose="020B0604020202020204" pitchFamily="34" charset="0"/>
              <a:buChar char="•"/>
            </a:pPr>
            <a:endParaRPr lang="en-US" sz="2000" dirty="0"/>
          </a:p>
          <a:p>
            <a:pPr>
              <a:buFont typeface="Arial" panose="020B0604020202020204" pitchFamily="34" charset="0"/>
              <a:buChar char="•"/>
            </a:pPr>
            <a:r>
              <a:rPr lang="en-US" sz="2000" dirty="0"/>
              <a:t>“Our project will do the same: learn user preferences and recommend products in an e-commerce dataset.</a:t>
            </a:r>
          </a:p>
        </p:txBody>
      </p:sp>
    </p:spTree>
    <p:extLst>
      <p:ext uri="{BB962C8B-B14F-4D97-AF65-F5344CB8AC3E}">
        <p14:creationId xmlns:p14="http://schemas.microsoft.com/office/powerpoint/2010/main" val="707728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61124D-EA98-3B10-DC1A-55E78E3D31B1}"/>
              </a:ext>
            </a:extLst>
          </p:cNvPr>
          <p:cNvSpPr txBox="1"/>
          <p:nvPr/>
        </p:nvSpPr>
        <p:spPr>
          <a:xfrm>
            <a:off x="452283" y="345934"/>
            <a:ext cx="10844982" cy="6740307"/>
          </a:xfrm>
          <a:prstGeom prst="rect">
            <a:avLst/>
          </a:prstGeom>
          <a:noFill/>
        </p:spPr>
        <p:txBody>
          <a:bodyPr wrap="square">
            <a:spAutoFit/>
          </a:bodyPr>
          <a:lstStyle/>
          <a:p>
            <a:pPr>
              <a:buNone/>
            </a:pPr>
            <a:r>
              <a:rPr lang="en-US" b="1" dirty="0"/>
              <a:t>Project Goal — Explanation</a:t>
            </a:r>
          </a:p>
          <a:p>
            <a:pPr>
              <a:buNone/>
            </a:pPr>
            <a:r>
              <a:rPr lang="en-US" b="1" dirty="0"/>
              <a:t>1. Start With the Main Goal</a:t>
            </a:r>
          </a:p>
          <a:p>
            <a:pPr>
              <a:buNone/>
            </a:pPr>
            <a:r>
              <a:rPr lang="en-US" dirty="0"/>
              <a:t>“The goal of our project is to build an AI system that recommends the best products to a user in an e-commerce platform.”</a:t>
            </a:r>
          </a:p>
          <a:p>
            <a:pPr>
              <a:buNone/>
            </a:pPr>
            <a:r>
              <a:rPr lang="en-US" dirty="0"/>
              <a:t>Explain it simply:</a:t>
            </a:r>
          </a:p>
          <a:p>
            <a:pPr>
              <a:buFont typeface="Arial" panose="020B0604020202020204" pitchFamily="34" charset="0"/>
              <a:buChar char="•"/>
            </a:pPr>
            <a:r>
              <a:rPr lang="en-US" dirty="0"/>
              <a:t>If a user likes mobile phones, the model should show similar mobiles.</a:t>
            </a:r>
          </a:p>
          <a:p>
            <a:pPr>
              <a:buFont typeface="Arial" panose="020B0604020202020204" pitchFamily="34" charset="0"/>
              <a:buChar char="•"/>
            </a:pPr>
            <a:r>
              <a:rPr lang="en-US" dirty="0"/>
              <a:t>If someone buys skincare items, the model should show related beauty products.</a:t>
            </a:r>
          </a:p>
          <a:p>
            <a:pPr>
              <a:buNone/>
            </a:pPr>
            <a:endParaRPr lang="en-US" dirty="0"/>
          </a:p>
          <a:p>
            <a:pPr>
              <a:buNone/>
            </a:pPr>
            <a:r>
              <a:rPr lang="en-US" b="1" dirty="0"/>
              <a:t>2. What Data We Will Use</a:t>
            </a:r>
          </a:p>
          <a:p>
            <a:r>
              <a:rPr lang="en-US" dirty="0"/>
              <a:t>“We will use two types of data:</a:t>
            </a:r>
            <a:br>
              <a:rPr lang="en-US" dirty="0"/>
            </a:br>
            <a:r>
              <a:rPr lang="en-US" b="1" dirty="0"/>
              <a:t>1. User behavior data</a:t>
            </a:r>
            <a:endParaRPr lang="en-US" dirty="0"/>
          </a:p>
          <a:p>
            <a:r>
              <a:rPr lang="en-US" dirty="0"/>
              <a:t>What users clicked</a:t>
            </a:r>
          </a:p>
          <a:p>
            <a:r>
              <a:rPr lang="en-US" dirty="0"/>
              <a:t>What they viewed</a:t>
            </a:r>
          </a:p>
          <a:p>
            <a:r>
              <a:rPr lang="en-US" dirty="0"/>
              <a:t>What they added to cart</a:t>
            </a:r>
          </a:p>
          <a:p>
            <a:r>
              <a:rPr lang="en-US" dirty="0"/>
              <a:t>What they purchased</a:t>
            </a:r>
          </a:p>
          <a:p>
            <a:r>
              <a:rPr lang="en-US" dirty="0"/>
              <a:t>Ratings or reviews</a:t>
            </a:r>
          </a:p>
          <a:p>
            <a:r>
              <a:rPr lang="en-US" b="1" dirty="0"/>
              <a:t>2. Product data</a:t>
            </a:r>
            <a:endParaRPr lang="en-US" dirty="0"/>
          </a:p>
          <a:p>
            <a:r>
              <a:rPr lang="en-US" dirty="0"/>
              <a:t>Category</a:t>
            </a:r>
          </a:p>
          <a:p>
            <a:r>
              <a:rPr lang="en-US" dirty="0"/>
              <a:t>Brand</a:t>
            </a:r>
          </a:p>
          <a:p>
            <a:r>
              <a:rPr lang="en-US" dirty="0"/>
              <a:t>Description</a:t>
            </a:r>
          </a:p>
          <a:p>
            <a:r>
              <a:rPr lang="en-US" dirty="0"/>
              <a:t>Price</a:t>
            </a:r>
          </a:p>
          <a:p>
            <a:r>
              <a:rPr lang="en-US" dirty="0"/>
              <a:t>Features (size, color, specs, etc.)”</a:t>
            </a:r>
          </a:p>
          <a:p>
            <a:r>
              <a:rPr lang="en-US" dirty="0"/>
              <a:t>This helps students understand where the intelligence comes from.</a:t>
            </a:r>
          </a:p>
          <a:p>
            <a:pPr>
              <a:buNone/>
            </a:pPr>
            <a:endParaRPr lang="en-US" b="1" dirty="0"/>
          </a:p>
        </p:txBody>
      </p:sp>
    </p:spTree>
    <p:extLst>
      <p:ext uri="{BB962C8B-B14F-4D97-AF65-F5344CB8AC3E}">
        <p14:creationId xmlns:p14="http://schemas.microsoft.com/office/powerpoint/2010/main" val="380230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BBF5E0-DDFC-6FFE-F1D1-3BBC4988D608}"/>
              </a:ext>
            </a:extLst>
          </p:cNvPr>
          <p:cNvSpPr txBox="1"/>
          <p:nvPr/>
        </p:nvSpPr>
        <p:spPr>
          <a:xfrm>
            <a:off x="452283" y="423238"/>
            <a:ext cx="10776156" cy="5909310"/>
          </a:xfrm>
          <a:prstGeom prst="rect">
            <a:avLst/>
          </a:prstGeom>
          <a:noFill/>
        </p:spPr>
        <p:txBody>
          <a:bodyPr wrap="square">
            <a:spAutoFit/>
          </a:bodyPr>
          <a:lstStyle/>
          <a:p>
            <a:pPr>
              <a:buNone/>
            </a:pPr>
            <a:r>
              <a:rPr lang="en-US" b="1" dirty="0"/>
              <a:t>Two Main Approaches We Will Learn</a:t>
            </a:r>
          </a:p>
          <a:p>
            <a:pPr>
              <a:buNone/>
            </a:pPr>
            <a:r>
              <a:rPr lang="en-US" dirty="0"/>
              <a:t>Explain the two ML approaches used in recommendation systems:</a:t>
            </a:r>
          </a:p>
          <a:p>
            <a:pPr>
              <a:buNone/>
            </a:pPr>
            <a:endParaRPr lang="en-US" dirty="0"/>
          </a:p>
          <a:p>
            <a:r>
              <a:rPr lang="en-US" b="1" dirty="0"/>
              <a:t>A. Content-Based Filtering</a:t>
            </a:r>
          </a:p>
          <a:p>
            <a:r>
              <a:rPr lang="en-US" dirty="0"/>
              <a:t>Recommends items </a:t>
            </a:r>
            <a:r>
              <a:rPr lang="en-US" b="1" dirty="0"/>
              <a:t>similar to what the user has liked before</a:t>
            </a:r>
            <a:endParaRPr lang="en-US" dirty="0"/>
          </a:p>
          <a:p>
            <a:r>
              <a:rPr lang="en-US" dirty="0"/>
              <a:t>Uses item features (category, brand, description)</a:t>
            </a:r>
          </a:p>
          <a:p>
            <a:r>
              <a:rPr lang="en-US" dirty="0"/>
              <a:t>Example:</a:t>
            </a:r>
            <a:br>
              <a:rPr lang="en-US" dirty="0"/>
            </a:br>
            <a:r>
              <a:rPr lang="en-US" dirty="0"/>
              <a:t>If a user liked a </a:t>
            </a:r>
            <a:r>
              <a:rPr lang="en-US" b="1" dirty="0"/>
              <a:t>Samsung phone</a:t>
            </a:r>
            <a:r>
              <a:rPr lang="en-US" dirty="0"/>
              <a:t>, the system recommends </a:t>
            </a:r>
            <a:r>
              <a:rPr lang="en-US" b="1" dirty="0"/>
              <a:t>other Samsung or similar phones</a:t>
            </a:r>
            <a:r>
              <a:rPr lang="en-US" dirty="0"/>
              <a:t>.</a:t>
            </a:r>
          </a:p>
          <a:p>
            <a:r>
              <a:rPr lang="en-US" dirty="0"/>
              <a:t>Tell them:</a:t>
            </a:r>
          </a:p>
          <a:p>
            <a:r>
              <a:rPr lang="en-US" dirty="0"/>
              <a:t>“The model focuses on the item content to find similar items.”</a:t>
            </a:r>
          </a:p>
          <a:p>
            <a:pPr>
              <a:buNone/>
            </a:pPr>
            <a:endParaRPr lang="en-US" dirty="0"/>
          </a:p>
          <a:p>
            <a:r>
              <a:rPr lang="en-US" b="1" dirty="0"/>
              <a:t>B. Collaborative Filtering</a:t>
            </a:r>
          </a:p>
          <a:p>
            <a:r>
              <a:rPr lang="en-US" dirty="0"/>
              <a:t>Recommends items based on </a:t>
            </a:r>
            <a:r>
              <a:rPr lang="en-US" b="1" dirty="0"/>
              <a:t>similar users behavior, similar users purchased history</a:t>
            </a:r>
            <a:endParaRPr lang="en-US" dirty="0"/>
          </a:p>
          <a:p>
            <a:r>
              <a:rPr lang="en-US" dirty="0"/>
              <a:t>Looks at patterns in user behavior</a:t>
            </a:r>
          </a:p>
          <a:p>
            <a:r>
              <a:rPr lang="en-US" dirty="0"/>
              <a:t>Example:</a:t>
            </a:r>
          </a:p>
          <a:p>
            <a:r>
              <a:rPr lang="en-US" dirty="0"/>
              <a:t>“If User A and User B watch similar movies, and A liked a new movie, we recommend it to B.”</a:t>
            </a:r>
          </a:p>
          <a:p>
            <a:r>
              <a:rPr lang="en-US" dirty="0"/>
              <a:t>Tell students:</a:t>
            </a:r>
          </a:p>
          <a:p>
            <a:r>
              <a:rPr lang="en-US" dirty="0"/>
              <a:t>“This approach does not depend on item features, but on user–user or item–item relationships.”</a:t>
            </a:r>
          </a:p>
          <a:p>
            <a:endParaRPr lang="en-US" dirty="0"/>
          </a:p>
          <a:p>
            <a:r>
              <a:rPr lang="en-US" b="1" dirty="0"/>
              <a:t>Till this</a:t>
            </a:r>
          </a:p>
          <a:p>
            <a:pPr>
              <a:buNone/>
            </a:pPr>
            <a:endParaRPr lang="en-US" dirty="0"/>
          </a:p>
        </p:txBody>
      </p:sp>
    </p:spTree>
    <p:extLst>
      <p:ext uri="{BB962C8B-B14F-4D97-AF65-F5344CB8AC3E}">
        <p14:creationId xmlns:p14="http://schemas.microsoft.com/office/powerpoint/2010/main" val="849584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C9CF0E-E701-3227-07C2-C79C0C3036CA}"/>
              </a:ext>
            </a:extLst>
          </p:cNvPr>
          <p:cNvSpPr txBox="1"/>
          <p:nvPr/>
        </p:nvSpPr>
        <p:spPr>
          <a:xfrm>
            <a:off x="206476" y="1843950"/>
            <a:ext cx="11513575" cy="3170099"/>
          </a:xfrm>
          <a:prstGeom prst="rect">
            <a:avLst/>
          </a:prstGeom>
          <a:noFill/>
        </p:spPr>
        <p:txBody>
          <a:bodyPr wrap="square">
            <a:spAutoFit/>
          </a:bodyPr>
          <a:lstStyle/>
          <a:p>
            <a:pPr marL="0" marR="0">
              <a:buNone/>
            </a:pPr>
            <a:r>
              <a:rPr lang="en-US" sz="2000" b="1" dirty="0">
                <a:effectLst/>
                <a:latin typeface="Calibri" panose="020F0502020204030204" pitchFamily="34" charset="0"/>
              </a:rPr>
              <a:t>Artificial intelligence (AI) is </a:t>
            </a:r>
            <a:r>
              <a:rPr lang="en-US" sz="1800" dirty="0">
                <a:effectLst/>
                <a:latin typeface="Calibri" panose="020F0502020204030204" pitchFamily="34" charset="0"/>
              </a:rPr>
              <a:t>the field of technology and computer science focused on creating systems</a:t>
            </a:r>
            <a:r>
              <a:rPr lang="en-IN" sz="1800" dirty="0">
                <a:effectLst/>
                <a:latin typeface="Calibri" panose="020F0502020204030204" pitchFamily="34" charset="0"/>
              </a:rPr>
              <a:t>—</a:t>
            </a:r>
            <a:r>
              <a:rPr lang="en-US" sz="1800" dirty="0">
                <a:effectLst/>
                <a:latin typeface="Calibri" panose="020F0502020204030204" pitchFamily="34" charset="0"/>
              </a:rPr>
              <a:t>such as computers or robots</a:t>
            </a:r>
            <a:r>
              <a:rPr lang="en-IN" sz="1800" dirty="0">
                <a:effectLst/>
                <a:latin typeface="Calibri" panose="020F0502020204030204" pitchFamily="34" charset="0"/>
              </a:rPr>
              <a:t>—</a:t>
            </a:r>
            <a:r>
              <a:rPr lang="en-US" sz="1800" dirty="0">
                <a:effectLst/>
                <a:latin typeface="Calibri" panose="020F0502020204030204" pitchFamily="34" charset="0"/>
              </a:rPr>
              <a:t>that can perform tasks typically associated with human intelligence. These tasks include learning from data, reasoning, problem-solving, perception, making decisions, understanding language, recognizing images or speech, and more.</a:t>
            </a:r>
            <a:endParaRPr lang="en-IN" sz="1200" dirty="0">
              <a:effectLst/>
              <a:latin typeface="Calibri" panose="020F0502020204030204" pitchFamily="34" charset="0"/>
            </a:endParaRPr>
          </a:p>
          <a:p>
            <a:pPr marL="342900" marR="0">
              <a:buNone/>
            </a:pPr>
            <a:r>
              <a:rPr lang="en-US" sz="1800" dirty="0">
                <a:effectLst/>
                <a:latin typeface="Calibri" panose="020F0502020204030204" pitchFamily="34" charset="0"/>
              </a:rPr>
              <a:t> </a:t>
            </a:r>
          </a:p>
          <a:p>
            <a:pPr rtl="0" fontAlgn="ctr">
              <a:buFont typeface="Arial" panose="020B0604020202020204" pitchFamily="34" charset="0"/>
              <a:buChar char="•"/>
            </a:pPr>
            <a:r>
              <a:rPr lang="en-IN" sz="1800" dirty="0">
                <a:effectLst/>
                <a:latin typeface="fkGroteskNeue"/>
              </a:rPr>
              <a:t>AI is used across a wide range of modern applications: from recommendation engines (like those in Netflix or Amazon), to virtual assistants (such as Siri and Alexa), chatbots, self-driving cars, image analysis in healthcare, fraud detection in finance, and much more.</a:t>
            </a:r>
            <a:endParaRPr lang="en-IN" sz="1200" dirty="0">
              <a:effectLst/>
              <a:latin typeface="Calibri" panose="020F0502020204030204" pitchFamily="34" charset="0"/>
            </a:endParaRPr>
          </a:p>
          <a:p>
            <a:pPr marL="342900" marR="0">
              <a:buNone/>
            </a:pPr>
            <a:r>
              <a:rPr lang="en-IN" sz="1800" dirty="0">
                <a:effectLst/>
                <a:latin typeface="Calibri" panose="020F0502020204030204" pitchFamily="34" charset="0"/>
              </a:rPr>
              <a:t> </a:t>
            </a:r>
          </a:p>
          <a:p>
            <a:pPr marL="342900" marR="0">
              <a:buNone/>
            </a:pPr>
            <a:r>
              <a:rPr lang="en-IN" sz="1800" dirty="0">
                <a:effectLst/>
                <a:highlight>
                  <a:srgbClr val="FFFF00"/>
                </a:highlight>
                <a:latin typeface="fkGroteskNeue"/>
              </a:rPr>
              <a:t>AI is essentially about machines being able to “think” or solve problems in ways that were previously only possible for humans.</a:t>
            </a:r>
            <a:endParaRPr lang="en-IN" sz="1800" dirty="0">
              <a:effectLst/>
              <a:latin typeface="fkGroteskNeue"/>
            </a:endParaRPr>
          </a:p>
        </p:txBody>
      </p:sp>
      <p:sp>
        <p:nvSpPr>
          <p:cNvPr id="2" name="Rectangle 1">
            <a:extLst>
              <a:ext uri="{FF2B5EF4-FFF2-40B4-BE49-F238E27FC236}">
                <a16:creationId xmlns:a16="http://schemas.microsoft.com/office/drawing/2014/main" id="{0EF81D7B-8CDC-419C-BAAF-61A069CDC444}"/>
              </a:ext>
            </a:extLst>
          </p:cNvPr>
          <p:cNvSpPr/>
          <p:nvPr/>
        </p:nvSpPr>
        <p:spPr>
          <a:xfrm>
            <a:off x="206476" y="294967"/>
            <a:ext cx="9851924" cy="5112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b="1" dirty="0">
                <a:ln w="0"/>
                <a:solidFill>
                  <a:schemeClr val="tx1"/>
                </a:solidFill>
                <a:effectLst>
                  <a:outerShdw blurRad="38100" dist="19050" dir="2700000" algn="tl" rotWithShape="0">
                    <a:schemeClr val="dk1">
                      <a:alpha val="40000"/>
                    </a:schemeClr>
                  </a:outerShdw>
                </a:effectLst>
              </a:rPr>
              <a:t>These are the basics which should know before developing this project.</a:t>
            </a:r>
          </a:p>
        </p:txBody>
      </p:sp>
    </p:spTree>
    <p:extLst>
      <p:ext uri="{BB962C8B-B14F-4D97-AF65-F5344CB8AC3E}">
        <p14:creationId xmlns:p14="http://schemas.microsoft.com/office/powerpoint/2010/main" val="1676034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379515-94D4-4125-25E4-ED566D037A1B}"/>
              </a:ext>
            </a:extLst>
          </p:cNvPr>
          <p:cNvSpPr txBox="1"/>
          <p:nvPr/>
        </p:nvSpPr>
        <p:spPr>
          <a:xfrm>
            <a:off x="339212" y="816475"/>
            <a:ext cx="11513575" cy="3970318"/>
          </a:xfrm>
          <a:prstGeom prst="rect">
            <a:avLst/>
          </a:prstGeom>
          <a:noFill/>
        </p:spPr>
        <p:txBody>
          <a:bodyPr wrap="square">
            <a:spAutoFit/>
          </a:bodyPr>
          <a:lstStyle/>
          <a:p>
            <a:pPr marL="0" marR="0">
              <a:buNone/>
            </a:pPr>
            <a:r>
              <a:rPr lang="en-US" sz="1800" dirty="0">
                <a:solidFill>
                  <a:srgbClr val="000000"/>
                </a:solidFill>
                <a:effectLst/>
                <a:latin typeface="Calibri" panose="020F0502020204030204" pitchFamily="34" charset="0"/>
              </a:rPr>
              <a:t>One Technique that creates the most impact in the domain of AI that is </a:t>
            </a:r>
            <a:r>
              <a:rPr lang="en-US" sz="1800" b="1" dirty="0">
                <a:solidFill>
                  <a:srgbClr val="000000"/>
                </a:solidFill>
                <a:effectLst/>
                <a:latin typeface="Calibri" panose="020F0502020204030204" pitchFamily="34" charset="0"/>
              </a:rPr>
              <a:t>Machine Learning.</a:t>
            </a:r>
            <a:br>
              <a:rPr lang="en-US" sz="1800" dirty="0">
                <a:solidFill>
                  <a:srgbClr val="000000"/>
                </a:solidFill>
                <a:effectLst/>
                <a:latin typeface="Calibri" panose="020F0502020204030204" pitchFamily="34" charset="0"/>
              </a:rPr>
            </a:br>
            <a:r>
              <a:rPr lang="en-US" sz="1800" b="1" dirty="0">
                <a:solidFill>
                  <a:srgbClr val="000000"/>
                </a:solidFill>
                <a:effectLst/>
                <a:latin typeface="Calibri" panose="020F0502020204030204" pitchFamily="34" charset="0"/>
              </a:rPr>
              <a:t>Machine Learning means</a:t>
            </a:r>
            <a:r>
              <a:rPr lang="en-US" sz="1800" dirty="0">
                <a:solidFill>
                  <a:srgbClr val="000000"/>
                </a:solidFill>
                <a:effectLst/>
                <a:latin typeface="Calibri" panose="020F0502020204030204" pitchFamily="34" charset="0"/>
              </a:rPr>
              <a:t> That we give so much data to any mathematical or statical algorithm and our goal is that the particular algorithm can get the pattern from the data so that  if we provide them to new data then it can be able to do some prediction. </a:t>
            </a:r>
          </a:p>
          <a:p>
            <a:pPr marL="0" marR="0">
              <a:buNone/>
            </a:pPr>
            <a:r>
              <a:rPr lang="en-US" sz="1800" dirty="0">
                <a:effectLst/>
                <a:latin typeface="Calibri" panose="020F0502020204030204" pitchFamily="34" charset="0"/>
              </a:rPr>
              <a:t> </a:t>
            </a:r>
          </a:p>
          <a:p>
            <a:pPr marL="0" marR="0">
              <a:buNone/>
            </a:pPr>
            <a:r>
              <a:rPr lang="en-US" sz="1800" dirty="0">
                <a:effectLst/>
                <a:latin typeface="Calibri" panose="020F0502020204030204" pitchFamily="34" charset="0"/>
              </a:rPr>
              <a:t>In Machine learning, we can create 3-4 types of model.</a:t>
            </a:r>
          </a:p>
          <a:p>
            <a:pPr rtl="0" fontAlgn="ctr">
              <a:buFont typeface="+mj-lt"/>
              <a:buAutoNum type="arabicPeriod"/>
            </a:pPr>
            <a:r>
              <a:rPr lang="en-US" sz="1800" b="0" i="0" dirty="0">
                <a:effectLst/>
                <a:latin typeface="Calibri" panose="020F0502020204030204" pitchFamily="34" charset="0"/>
              </a:rPr>
              <a:t>A model which can predict numbers, basically regression problem. </a:t>
            </a:r>
            <a:r>
              <a:rPr lang="en-US" sz="1800" b="0" i="0" dirty="0" err="1">
                <a:effectLst/>
                <a:latin typeface="Calibri" panose="020F0502020204030204" pitchFamily="34" charset="0"/>
              </a:rPr>
              <a:t>Eg.</a:t>
            </a:r>
            <a:r>
              <a:rPr lang="en-US" sz="1800" b="0" i="0" dirty="0">
                <a:effectLst/>
                <a:latin typeface="Calibri" panose="020F0502020204030204" pitchFamily="34" charset="0"/>
              </a:rPr>
              <a:t> A model can predict the tomorrow's stock price of a company?</a:t>
            </a:r>
          </a:p>
          <a:p>
            <a:pPr rtl="0" fontAlgn="ctr">
              <a:buFont typeface="+mj-lt"/>
              <a:buAutoNum type="arabicPeriod"/>
            </a:pPr>
            <a:r>
              <a:rPr lang="en-US" sz="1800" b="0" i="0" dirty="0">
                <a:effectLst/>
                <a:latin typeface="Calibri" panose="020F0502020204030204" pitchFamily="34" charset="0"/>
              </a:rPr>
              <a:t>Classification problem model. </a:t>
            </a:r>
            <a:r>
              <a:rPr lang="en-US" sz="1800" b="0" i="0" dirty="0" err="1">
                <a:effectLst/>
                <a:latin typeface="Calibri" panose="020F0502020204030204" pitchFamily="34" charset="0"/>
              </a:rPr>
              <a:t>Eg.</a:t>
            </a:r>
            <a:r>
              <a:rPr lang="en-US" sz="1800" b="0" i="0" dirty="0">
                <a:effectLst/>
                <a:latin typeface="Calibri" panose="020F0502020204030204" pitchFamily="34" charset="0"/>
              </a:rPr>
              <a:t> A model can predict that in the picture there is cat or a dog?</a:t>
            </a:r>
          </a:p>
          <a:p>
            <a:pPr rtl="0" fontAlgn="ctr">
              <a:buFont typeface="+mj-lt"/>
              <a:buAutoNum type="arabicPeriod"/>
            </a:pPr>
            <a:r>
              <a:rPr lang="en-US" sz="1800" b="0" i="0" dirty="0">
                <a:effectLst/>
                <a:latin typeface="Calibri" panose="020F0502020204030204" pitchFamily="34" charset="0"/>
              </a:rPr>
              <a:t>Recommendation system.</a:t>
            </a:r>
          </a:p>
          <a:p>
            <a:pPr marL="0" marR="0">
              <a:buNone/>
            </a:pPr>
            <a:r>
              <a:rPr lang="en-US" sz="1800" dirty="0">
                <a:effectLst/>
                <a:latin typeface="Calibri" panose="020F0502020204030204" pitchFamily="34" charset="0"/>
              </a:rPr>
              <a:t> </a:t>
            </a:r>
          </a:p>
          <a:p>
            <a:pPr marL="0" marR="0">
              <a:buNone/>
            </a:pPr>
            <a:r>
              <a:rPr lang="en-US" sz="1800" dirty="0">
                <a:effectLst/>
                <a:latin typeface="Calibri" panose="020F0502020204030204" pitchFamily="34" charset="0"/>
              </a:rPr>
              <a:t>But, Never machine learning was used there need of human creativity was felt. But, after Generative AI this thing has been changed what is the biggest main difference with GEN AI is that it can create new data as text, images etc. So, it has the capability of </a:t>
            </a:r>
            <a:r>
              <a:rPr lang="en-US" sz="1800" dirty="0" err="1">
                <a:effectLst/>
                <a:latin typeface="Calibri" panose="020F0502020204030204" pitchFamily="34" charset="0"/>
              </a:rPr>
              <a:t>mimick</a:t>
            </a:r>
            <a:r>
              <a:rPr lang="en-US" sz="1800" dirty="0">
                <a:effectLst/>
                <a:latin typeface="Calibri" panose="020F0502020204030204" pitchFamily="34" charset="0"/>
              </a:rPr>
              <a:t> the human creativity.</a:t>
            </a:r>
          </a:p>
        </p:txBody>
      </p:sp>
    </p:spTree>
    <p:extLst>
      <p:ext uri="{BB962C8B-B14F-4D97-AF65-F5344CB8AC3E}">
        <p14:creationId xmlns:p14="http://schemas.microsoft.com/office/powerpoint/2010/main" val="3062389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C7387F-5701-9116-9B38-AE981DC3243F}"/>
              </a:ext>
            </a:extLst>
          </p:cNvPr>
          <p:cNvSpPr txBox="1"/>
          <p:nvPr/>
        </p:nvSpPr>
        <p:spPr>
          <a:xfrm>
            <a:off x="619433" y="834497"/>
            <a:ext cx="9085006" cy="1508105"/>
          </a:xfrm>
          <a:prstGeom prst="rect">
            <a:avLst/>
          </a:prstGeom>
          <a:noFill/>
        </p:spPr>
        <p:txBody>
          <a:bodyPr wrap="square">
            <a:spAutoFit/>
          </a:bodyPr>
          <a:lstStyle/>
          <a:p>
            <a:pPr marL="0" marR="0">
              <a:buNone/>
            </a:pPr>
            <a:endParaRPr lang="en-US" sz="2000" b="1" dirty="0">
              <a:effectLst/>
              <a:latin typeface="Calibri" panose="020F0502020204030204" pitchFamily="34" charset="0"/>
            </a:endParaRPr>
          </a:p>
          <a:p>
            <a:pPr marL="0" marR="0">
              <a:buNone/>
            </a:pPr>
            <a:r>
              <a:rPr lang="en-US" sz="2000" b="1" dirty="0">
                <a:effectLst/>
                <a:latin typeface="Calibri" panose="020F0502020204030204" pitchFamily="34" charset="0"/>
              </a:rPr>
              <a:t>What is GENAI?</a:t>
            </a:r>
            <a:endParaRPr lang="en-US" sz="2000" dirty="0">
              <a:effectLst/>
              <a:latin typeface="Calibri" panose="020F0502020204030204" pitchFamily="34" charset="0"/>
            </a:endParaRPr>
          </a:p>
          <a:p>
            <a:pPr marL="0" marR="0">
              <a:buNone/>
            </a:pPr>
            <a:r>
              <a:rPr lang="en-US" sz="1600" dirty="0">
                <a:effectLst/>
                <a:latin typeface="Calibri" panose="020F0502020204030204" pitchFamily="34" charset="0"/>
              </a:rPr>
              <a:t> </a:t>
            </a:r>
          </a:p>
          <a:p>
            <a:pPr marL="0" marR="0">
              <a:buNone/>
            </a:pPr>
            <a:r>
              <a:rPr lang="en-US" sz="1800" dirty="0">
                <a:effectLst/>
                <a:latin typeface="Calibri" panose="020F0502020204030204" pitchFamily="34" charset="0"/>
              </a:rPr>
              <a:t>Gen AI is a type of artificial intelligence that creates new content -  such as text, images, music or code - by learning patterns from existing data, mimicking human creativity. </a:t>
            </a:r>
          </a:p>
        </p:txBody>
      </p:sp>
      <p:sp>
        <p:nvSpPr>
          <p:cNvPr id="5" name="TextBox 4">
            <a:extLst>
              <a:ext uri="{FF2B5EF4-FFF2-40B4-BE49-F238E27FC236}">
                <a16:creationId xmlns:a16="http://schemas.microsoft.com/office/drawing/2014/main" id="{7F198118-DDA9-3744-0AE7-A082D79DEA88}"/>
              </a:ext>
            </a:extLst>
          </p:cNvPr>
          <p:cNvSpPr txBox="1"/>
          <p:nvPr/>
        </p:nvSpPr>
        <p:spPr>
          <a:xfrm>
            <a:off x="550607" y="2832178"/>
            <a:ext cx="10441858" cy="1508105"/>
          </a:xfrm>
          <a:prstGeom prst="rect">
            <a:avLst/>
          </a:prstGeom>
          <a:noFill/>
        </p:spPr>
        <p:txBody>
          <a:bodyPr wrap="square">
            <a:spAutoFit/>
          </a:bodyPr>
          <a:lstStyle/>
          <a:p>
            <a:pPr marL="0" marR="0">
              <a:buNone/>
            </a:pPr>
            <a:r>
              <a:rPr lang="en-US" sz="2000" b="1" dirty="0">
                <a:effectLst/>
                <a:latin typeface="Calibri" panose="020F0502020204030204" pitchFamily="34" charset="0"/>
              </a:rPr>
              <a:t>GEN AI significant Impact areas:</a:t>
            </a:r>
            <a:endParaRPr lang="en-US" sz="2000" dirty="0">
              <a:effectLst/>
              <a:latin typeface="Calibri" panose="020F0502020204030204" pitchFamily="34" charset="0"/>
            </a:endParaRPr>
          </a:p>
          <a:p>
            <a:pPr rtl="0" fontAlgn="ctr">
              <a:buFont typeface="+mj-lt"/>
              <a:buAutoNum type="arabicPeriod"/>
            </a:pPr>
            <a:r>
              <a:rPr lang="en-US" sz="1800" b="0" i="0" dirty="0">
                <a:effectLst/>
                <a:latin typeface="Calibri" panose="020F0502020204030204" pitchFamily="34" charset="0"/>
              </a:rPr>
              <a:t>Customer Support, </a:t>
            </a:r>
            <a:r>
              <a:rPr lang="en-US" sz="1800" b="0" i="0" dirty="0" err="1">
                <a:effectLst/>
                <a:latin typeface="Calibri" panose="020F0502020204030204" pitchFamily="34" charset="0"/>
              </a:rPr>
              <a:t>eg.</a:t>
            </a:r>
            <a:r>
              <a:rPr lang="en-US" sz="1800" b="0" i="0" dirty="0">
                <a:effectLst/>
                <a:latin typeface="Calibri" panose="020F0502020204030204" pitchFamily="34" charset="0"/>
              </a:rPr>
              <a:t> Chatbot for customer handling</a:t>
            </a:r>
          </a:p>
          <a:p>
            <a:pPr rtl="0" fontAlgn="ctr">
              <a:buFont typeface="+mj-lt"/>
              <a:buAutoNum type="arabicPeriod"/>
            </a:pPr>
            <a:r>
              <a:rPr lang="en-US" sz="1800" b="0" i="0" dirty="0">
                <a:effectLst/>
                <a:latin typeface="Calibri" panose="020F0502020204030204" pitchFamily="34" charset="0"/>
              </a:rPr>
              <a:t>Content Creation </a:t>
            </a:r>
            <a:r>
              <a:rPr lang="en-US" sz="1800" b="0" i="0" dirty="0" err="1">
                <a:effectLst/>
                <a:latin typeface="Calibri" panose="020F0502020204030204" pitchFamily="34" charset="0"/>
              </a:rPr>
              <a:t>eg.</a:t>
            </a:r>
            <a:r>
              <a:rPr lang="en-US" sz="1800" b="0" i="0" dirty="0">
                <a:effectLst/>
                <a:latin typeface="Calibri" panose="020F0502020204030204" pitchFamily="34" charset="0"/>
              </a:rPr>
              <a:t> It can create new content, any text based, video based.</a:t>
            </a:r>
          </a:p>
          <a:p>
            <a:pPr rtl="0" fontAlgn="ctr">
              <a:buFont typeface="+mj-lt"/>
              <a:buAutoNum type="arabicPeriod"/>
            </a:pPr>
            <a:r>
              <a:rPr lang="en-US" sz="1800" b="0" i="0" dirty="0">
                <a:effectLst/>
                <a:latin typeface="Calibri" panose="020F0502020204030204" pitchFamily="34" charset="0"/>
              </a:rPr>
              <a:t>Education </a:t>
            </a:r>
            <a:r>
              <a:rPr lang="en-US" sz="1800" b="0" i="0" dirty="0" err="1">
                <a:effectLst/>
                <a:latin typeface="Calibri" panose="020F0502020204030204" pitchFamily="34" charset="0"/>
              </a:rPr>
              <a:t>eg.</a:t>
            </a:r>
            <a:r>
              <a:rPr lang="en-US" sz="1800" b="0" i="0" dirty="0">
                <a:effectLst/>
                <a:latin typeface="Calibri" panose="020F0502020204030204" pitchFamily="34" charset="0"/>
              </a:rPr>
              <a:t> After </a:t>
            </a:r>
            <a:r>
              <a:rPr lang="en-US" sz="1800" b="0" i="0" dirty="0" err="1">
                <a:effectLst/>
                <a:latin typeface="Calibri" panose="020F0502020204030204" pitchFamily="34" charset="0"/>
              </a:rPr>
              <a:t>chatgpt</a:t>
            </a:r>
            <a:r>
              <a:rPr lang="en-US" sz="1800" b="0" i="0" dirty="0">
                <a:effectLst/>
                <a:latin typeface="Calibri" panose="020F0502020204030204" pitchFamily="34" charset="0"/>
              </a:rPr>
              <a:t> our learning pattern has changed. Now everyone has their personal tutor.</a:t>
            </a:r>
          </a:p>
          <a:p>
            <a:pPr rtl="0" fontAlgn="ctr">
              <a:buFont typeface="+mj-lt"/>
              <a:buAutoNum type="arabicPeriod"/>
            </a:pPr>
            <a:r>
              <a:rPr lang="en-US" sz="1800" b="0" i="0" dirty="0">
                <a:effectLst/>
                <a:latin typeface="Calibri" panose="020F0502020204030204" pitchFamily="34" charset="0"/>
              </a:rPr>
              <a:t>Software development </a:t>
            </a:r>
            <a:r>
              <a:rPr lang="en-US" sz="1800" b="0" i="0" dirty="0" err="1">
                <a:effectLst/>
                <a:latin typeface="Calibri" panose="020F0502020204030204" pitchFamily="34" charset="0"/>
              </a:rPr>
              <a:t>eg.</a:t>
            </a:r>
            <a:r>
              <a:rPr lang="en-US" sz="1800" b="0" i="0" dirty="0">
                <a:effectLst/>
                <a:latin typeface="Calibri" panose="020F0502020204030204" pitchFamily="34" charset="0"/>
              </a:rPr>
              <a:t> Generative models are really good in writing production ready codes.</a:t>
            </a:r>
          </a:p>
        </p:txBody>
      </p:sp>
      <p:sp>
        <p:nvSpPr>
          <p:cNvPr id="7" name="TextBox 6">
            <a:extLst>
              <a:ext uri="{FF2B5EF4-FFF2-40B4-BE49-F238E27FC236}">
                <a16:creationId xmlns:a16="http://schemas.microsoft.com/office/drawing/2014/main" id="{3FB15B4F-E164-1317-8C39-4F12D7E51CC3}"/>
              </a:ext>
            </a:extLst>
          </p:cNvPr>
          <p:cNvSpPr txBox="1"/>
          <p:nvPr/>
        </p:nvSpPr>
        <p:spPr>
          <a:xfrm>
            <a:off x="550607" y="4517263"/>
            <a:ext cx="10137059" cy="1754326"/>
          </a:xfrm>
          <a:prstGeom prst="rect">
            <a:avLst/>
          </a:prstGeom>
          <a:noFill/>
        </p:spPr>
        <p:txBody>
          <a:bodyPr wrap="square">
            <a:spAutoFit/>
          </a:bodyPr>
          <a:lstStyle/>
          <a:p>
            <a:pPr marL="0" marR="0">
              <a:buNone/>
            </a:pPr>
            <a:r>
              <a:rPr lang="en-US" sz="1800" b="1" dirty="0">
                <a:effectLst/>
                <a:latin typeface="Calibri" panose="020F0502020204030204" pitchFamily="34" charset="0"/>
              </a:rPr>
              <a:t>Generative AI is successful  technology or not?</a:t>
            </a:r>
            <a:endParaRPr lang="en-US" sz="1800" dirty="0">
              <a:effectLst/>
              <a:latin typeface="Calibri" panose="020F0502020204030204" pitchFamily="34" charset="0"/>
            </a:endParaRPr>
          </a:p>
          <a:p>
            <a:pPr rtl="0" fontAlgn="ctr">
              <a:buFont typeface="+mj-lt"/>
              <a:buAutoNum type="arabicPeriod"/>
            </a:pPr>
            <a:r>
              <a:rPr lang="en-US" sz="1800" b="1" i="0" dirty="0">
                <a:effectLst/>
                <a:latin typeface="Calibri" panose="020F0502020204030204" pitchFamily="34" charset="0"/>
              </a:rPr>
              <a:t>Does it solve real world problems? </a:t>
            </a:r>
            <a:r>
              <a:rPr lang="en-US" sz="1800" b="0" i="0" dirty="0">
                <a:effectLst/>
                <a:latin typeface="Calibri" panose="020F0502020204030204" pitchFamily="34" charset="0"/>
              </a:rPr>
              <a:t>Yes</a:t>
            </a:r>
            <a:endParaRPr lang="en-US" sz="1800" b="1" i="0" dirty="0">
              <a:effectLst/>
              <a:latin typeface="Calibri" panose="020F0502020204030204" pitchFamily="34" charset="0"/>
            </a:endParaRPr>
          </a:p>
          <a:p>
            <a:pPr marL="685800" marR="0">
              <a:buNone/>
            </a:pPr>
            <a:r>
              <a:rPr lang="en-US" sz="1800" dirty="0">
                <a:effectLst/>
                <a:latin typeface="Calibri" panose="020F0502020204030204" pitchFamily="34" charset="0"/>
              </a:rPr>
              <a:t>As it is use for customer handling which is a problem of many companies.</a:t>
            </a:r>
          </a:p>
          <a:p>
            <a:pPr marL="685800" marR="0">
              <a:buNone/>
            </a:pPr>
            <a:r>
              <a:rPr lang="en-US" sz="1800" dirty="0">
                <a:effectLst/>
                <a:latin typeface="Calibri" panose="020F0502020204030204" pitchFamily="34" charset="0"/>
              </a:rPr>
              <a:t>And, everyone now is getting their personal tutor.</a:t>
            </a:r>
          </a:p>
          <a:p>
            <a:pPr rtl="0" fontAlgn="ctr">
              <a:buFont typeface="+mj-lt"/>
              <a:buAutoNum type="arabicPeriod" startAt="2"/>
            </a:pPr>
            <a:r>
              <a:rPr lang="en-US" sz="1800" b="1" i="0" dirty="0">
                <a:effectLst/>
                <a:latin typeface="Calibri" panose="020F0502020204030204" pitchFamily="34" charset="0"/>
              </a:rPr>
              <a:t>Is it useful on daily basis? </a:t>
            </a:r>
            <a:r>
              <a:rPr lang="en-US" sz="1800" b="0" i="0" dirty="0">
                <a:effectLst/>
                <a:latin typeface="Calibri" panose="020F0502020204030204" pitchFamily="34" charset="0"/>
              </a:rPr>
              <a:t>Yes</a:t>
            </a:r>
          </a:p>
          <a:p>
            <a:pPr marL="685800" marR="0">
              <a:buNone/>
            </a:pPr>
            <a:r>
              <a:rPr lang="en-US" sz="1800" dirty="0">
                <a:effectLst/>
                <a:latin typeface="Calibri" panose="020F0502020204030204" pitchFamily="34" charset="0"/>
              </a:rPr>
              <a:t>Yes the tools we have in gen ai we use daily and we are getting profit from that.</a:t>
            </a:r>
          </a:p>
        </p:txBody>
      </p:sp>
    </p:spTree>
    <p:extLst>
      <p:ext uri="{BB962C8B-B14F-4D97-AF65-F5344CB8AC3E}">
        <p14:creationId xmlns:p14="http://schemas.microsoft.com/office/powerpoint/2010/main" val="1468083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DB1539-80C7-CFDC-2310-C7177963CF6D}"/>
              </a:ext>
            </a:extLst>
          </p:cNvPr>
          <p:cNvSpPr txBox="1"/>
          <p:nvPr/>
        </p:nvSpPr>
        <p:spPr>
          <a:xfrm>
            <a:off x="727587" y="843677"/>
            <a:ext cx="8839200" cy="2031325"/>
          </a:xfrm>
          <a:prstGeom prst="rect">
            <a:avLst/>
          </a:prstGeom>
          <a:noFill/>
        </p:spPr>
        <p:txBody>
          <a:bodyPr wrap="square">
            <a:spAutoFit/>
          </a:bodyPr>
          <a:lstStyle/>
          <a:p>
            <a:pPr>
              <a:buNone/>
            </a:pPr>
            <a:r>
              <a:rPr lang="en-US" b="1" dirty="0"/>
              <a:t>What is an LLM?</a:t>
            </a:r>
          </a:p>
          <a:p>
            <a:pPr>
              <a:buNone/>
            </a:pPr>
            <a:r>
              <a:rPr lang="en-US" b="1" dirty="0"/>
              <a:t>LLM = Large Language Model</a:t>
            </a:r>
            <a:endParaRPr lang="en-US" dirty="0"/>
          </a:p>
          <a:p>
            <a:pPr>
              <a:buNone/>
            </a:pPr>
            <a:r>
              <a:rPr lang="en-US" dirty="0"/>
              <a:t>It is a type of </a:t>
            </a:r>
            <a:r>
              <a:rPr lang="en-US" b="1" dirty="0"/>
              <a:t>AI system that can understand and generate human language</a:t>
            </a:r>
            <a:r>
              <a:rPr lang="en-US" dirty="0"/>
              <a:t> (like English, Hindi, etc.) just by learning from huge amounts of text.</a:t>
            </a:r>
          </a:p>
          <a:p>
            <a:pPr>
              <a:buNone/>
            </a:pPr>
            <a:r>
              <a:rPr lang="en-US" dirty="0"/>
              <a:t>Think of an LLM as:</a:t>
            </a:r>
          </a:p>
          <a:p>
            <a:pPr>
              <a:buNone/>
            </a:pPr>
            <a:r>
              <a:rPr lang="en-US" b="1" dirty="0"/>
              <a:t>A super-advanced autocomplete that learned from books, websites, conversations, and documents to understand how humans communicate.</a:t>
            </a:r>
            <a:endParaRPr lang="en-US" dirty="0"/>
          </a:p>
        </p:txBody>
      </p:sp>
      <p:sp>
        <p:nvSpPr>
          <p:cNvPr id="5" name="TextBox 4">
            <a:extLst>
              <a:ext uri="{FF2B5EF4-FFF2-40B4-BE49-F238E27FC236}">
                <a16:creationId xmlns:a16="http://schemas.microsoft.com/office/drawing/2014/main" id="{7FE8D9A3-C8AE-8D3A-3FE3-911358855559}"/>
              </a:ext>
            </a:extLst>
          </p:cNvPr>
          <p:cNvSpPr txBox="1"/>
          <p:nvPr/>
        </p:nvSpPr>
        <p:spPr>
          <a:xfrm>
            <a:off x="1052052" y="3382834"/>
            <a:ext cx="6096000" cy="1200329"/>
          </a:xfrm>
          <a:prstGeom prst="rect">
            <a:avLst/>
          </a:prstGeom>
          <a:noFill/>
        </p:spPr>
        <p:txBody>
          <a:bodyPr wrap="square">
            <a:spAutoFit/>
          </a:bodyPr>
          <a:lstStyle/>
          <a:p>
            <a:r>
              <a:rPr lang="en-US" dirty="0"/>
              <a:t>A Large Language Model (LLM) is an artificial intelligence system that learns from huge amounts of text and can understand language, complete sentences, and predict the next word or set of words in a meaningful way.</a:t>
            </a:r>
            <a:endParaRPr lang="en-IN" dirty="0"/>
          </a:p>
        </p:txBody>
      </p:sp>
      <p:sp>
        <p:nvSpPr>
          <p:cNvPr id="7" name="TextBox 6">
            <a:extLst>
              <a:ext uri="{FF2B5EF4-FFF2-40B4-BE49-F238E27FC236}">
                <a16:creationId xmlns:a16="http://schemas.microsoft.com/office/drawing/2014/main" id="{43399CD5-E693-391D-C33B-6AF3DEA0F5AB}"/>
              </a:ext>
            </a:extLst>
          </p:cNvPr>
          <p:cNvSpPr txBox="1"/>
          <p:nvPr/>
        </p:nvSpPr>
        <p:spPr>
          <a:xfrm>
            <a:off x="1052052" y="4966590"/>
            <a:ext cx="6096000" cy="646331"/>
          </a:xfrm>
          <a:prstGeom prst="rect">
            <a:avLst/>
          </a:prstGeom>
          <a:noFill/>
        </p:spPr>
        <p:txBody>
          <a:bodyPr wrap="square">
            <a:spAutoFit/>
          </a:bodyPr>
          <a:lstStyle/>
          <a:p>
            <a:pPr>
              <a:buNone/>
            </a:pPr>
            <a:r>
              <a:rPr lang="en-US" b="1" dirty="0"/>
              <a:t>LLM is an AI that predicts the next words intelligently to generate human-like text.</a:t>
            </a:r>
            <a:endParaRPr lang="en-US" dirty="0"/>
          </a:p>
        </p:txBody>
      </p:sp>
    </p:spTree>
    <p:extLst>
      <p:ext uri="{BB962C8B-B14F-4D97-AF65-F5344CB8AC3E}">
        <p14:creationId xmlns:p14="http://schemas.microsoft.com/office/powerpoint/2010/main" val="1941983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1262</Words>
  <Application>Microsoft Office PowerPoint</Application>
  <PresentationFormat>Widescreen</PresentationFormat>
  <Paragraphs>128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fkGroteskNeue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simran bhutani</dc:creator>
  <cp:lastModifiedBy>simran bhutani</cp:lastModifiedBy>
  <cp:revision>5</cp:revision>
  <dcterms:created xsi:type="dcterms:W3CDTF">2025-12-02T16:51:10Z</dcterms:created>
  <dcterms:modified xsi:type="dcterms:W3CDTF">2026-02-03T13:39:44Z</dcterms:modified>
</cp:coreProperties>
</file>