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>
        <p:scale>
          <a:sx n="80" d="100"/>
          <a:sy n="80" d="100"/>
        </p:scale>
        <p:origin x="619" y="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B0BC1-BCE3-BEAA-F2EA-186B3D23FA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735A2A-81A7-D57D-E2FF-C96104483F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A22C9-485C-DF02-20A2-6CF2A5289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D67A7-F774-4A39-87BF-6D93E7DE13F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40DD0-FB0D-2C3B-3AC2-DA174C975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95AE7-C84D-8DDD-03FD-50F055459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23C5-0397-4139-8FD8-5EEC53B9F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680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EDEC1-03CB-06C4-717B-D5FCE7AD8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3E506-DD7D-F1FC-E3DA-1B38A2CBD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90CCC-B63D-48DE-DC43-49ACBBEEF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D67A7-F774-4A39-87BF-6D93E7DE13F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5B2AD-1EDF-FE70-C918-299FF570A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71CEC-37AD-141E-C23C-F063AD27F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23C5-0397-4139-8FD8-5EEC53B9F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389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B9975-4DEF-3E46-8A32-902D48B15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A6763C-EDD7-B6FF-4FFB-AC79B52F2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F8D9B-71E0-35B1-3105-554513501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D67A7-F774-4A39-87BF-6D93E7DE13F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44659-84AD-039B-538C-173A3E0F0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1EC78-597F-F815-7FF4-25EE827CC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23C5-0397-4139-8FD8-5EEC53B9F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6260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AFAC6-3EBC-AC43-CE79-804149D1B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8D7A8-D9E6-20C2-CD26-B08384EC70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21AC3A-6B40-A5A7-DB04-EA9A047C29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F257D3-9AB2-E03C-FB65-27F3EB6A9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D67A7-F774-4A39-87BF-6D93E7DE13F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5C605-9CCF-CCD4-F2F2-11877F90E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E1ED0-E1DC-8ACB-DCD9-3779A0D5C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23C5-0397-4139-8FD8-5EEC53B9F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1757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D713B-985D-6B27-92EB-BFD8AF45B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15E146-3F01-9364-604C-EA7DE4F58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AE5F10-6E0C-762B-B9E2-B430C02270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24BC27-0D33-B7C1-BBEF-B6FB10A2ED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685C0-BA34-5854-2925-C29C6B9738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B25B02-E614-3A4D-5017-75D22EA10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D67A7-F774-4A39-87BF-6D93E7DE13F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3EB0B5-55B1-4EFA-25BB-6BF9C76D9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77E12D-9038-362F-6650-2F9884B6E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23C5-0397-4139-8FD8-5EEC53B9F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047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DC419-258C-46E2-FC06-2669CF9A1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A95617-5974-6400-BDBD-6206E1935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D67A7-F774-4A39-87BF-6D93E7DE13F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F18F98-353B-3BF9-9111-C646BBB4A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682168-F342-3312-F518-DAE88E3A9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23C5-0397-4139-8FD8-5EEC53B9F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2851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0C4BED-99BF-49B2-75EE-C32A4B850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D67A7-F774-4A39-87BF-6D93E7DE13F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AD6436-7228-2CFE-D7C8-FE9EC3268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49876-9CE5-DD51-3D3F-DDECEF44A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23C5-0397-4139-8FD8-5EEC53B9F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726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4452B-9813-0755-B86C-50A8ABE45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1270C-B0F4-2BC9-3C7F-9949DB84A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C7D8FE-A2DB-78CF-0532-96EB95FFB8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7467B-DBF6-6D3A-7CD3-DAD5D15C4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D67A7-F774-4A39-87BF-6D93E7DE13F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7193EE-CA72-3D02-2EA5-28544818D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A02510-EF2D-81BA-FDB9-E3C733D1F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23C5-0397-4139-8FD8-5EEC53B9F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419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67BCD-9460-039E-42F2-DF9235B48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6E4AB3-3CA2-BE84-9801-CF188E624E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DB3F4E-8443-F1C3-E6BC-DF7C55F243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6DA33B-3BB5-8F82-B39B-3F3E96D48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D67A7-F774-4A39-87BF-6D93E7DE13F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DC75F-1CF9-3A3E-1D8E-743C8520B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63638-F1C9-4CB6-9D4B-E51EF8F1F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23C5-0397-4139-8FD8-5EEC53B9F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375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F174D-C396-800D-BEC0-46AAEB866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655095-8579-602F-7F16-C073CE5822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D7AD1-64E9-F7AF-C66B-5F3551659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D67A7-F774-4A39-87BF-6D93E7DE13F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B868D-28F1-4085-AC97-DE54107C1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9B0C2-A0AD-7ACA-D015-F8C0EE132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23C5-0397-4139-8FD8-5EEC53B9F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950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D5DB99-875C-A469-2DDE-F69CA765C7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3A1B47-A06B-DEEE-3305-43E86F916A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297CD-3070-BA8D-699D-637607CBD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D67A7-F774-4A39-87BF-6D93E7DE13F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71600-8C09-B81B-9E22-43A5DB38A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13BB9-D6E2-6C45-BDF3-F0BAD004F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23C5-0397-4139-8FD8-5EEC53B9F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331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C1F54C-0727-5AAA-2A9F-F573CE93A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98A6E1-2F08-3B24-585D-C1118E307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1FF9D-FCD5-1AE6-D186-12D365C3F9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CD67A7-F774-4A39-87BF-6D93E7DE13F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CFA27-0885-530A-06A8-9FE7564E12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02A83-7DD1-10D1-5B28-39F0CCBDBA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2623C5-0397-4139-8FD8-5EEC53B9F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345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B24F1F-2813-5D8E-8878-FFF528F2344B}"/>
              </a:ext>
            </a:extLst>
          </p:cNvPr>
          <p:cNvSpPr txBox="1"/>
          <p:nvPr/>
        </p:nvSpPr>
        <p:spPr>
          <a:xfrm>
            <a:off x="452282" y="374925"/>
            <a:ext cx="100485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CONTENT-BASED RECOMMENDATION – STEP BY STEP EXPLANATION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C2BC1B-F606-3286-0927-7823D309D84A}"/>
              </a:ext>
            </a:extLst>
          </p:cNvPr>
          <p:cNvSpPr txBox="1"/>
          <p:nvPr/>
        </p:nvSpPr>
        <p:spPr>
          <a:xfrm>
            <a:off x="344128" y="1264573"/>
            <a:ext cx="1092363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WHAT IS CONTENT-BASED FILTERING?</a:t>
            </a:r>
          </a:p>
          <a:p>
            <a:pPr>
              <a:buNone/>
            </a:pPr>
            <a:r>
              <a:rPr lang="en-US" dirty="0"/>
              <a:t>Content-based filtering is a recommendation method where:</a:t>
            </a:r>
          </a:p>
          <a:p>
            <a:pPr>
              <a:buNone/>
            </a:pPr>
            <a:r>
              <a:rPr lang="en-US" dirty="0"/>
              <a:t>The system recommends products that are similar to the product selected by the user.</a:t>
            </a:r>
          </a:p>
          <a:p>
            <a:pPr>
              <a:buNone/>
            </a:pPr>
            <a:r>
              <a:rPr lang="en-US" dirty="0"/>
              <a:t>It does not depend on other users.</a:t>
            </a:r>
            <a:br>
              <a:rPr lang="en-US" dirty="0"/>
            </a:br>
            <a:r>
              <a:rPr lang="en-US" dirty="0"/>
              <a:t>It only depends on product information like tags, description, category, etc.</a:t>
            </a:r>
          </a:p>
          <a:p>
            <a:pPr>
              <a:buNone/>
            </a:pPr>
            <a:r>
              <a:rPr lang="en-US" dirty="0"/>
              <a:t>In your case, similarity is calculated using the “Tags” column.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8F45A0-084F-E867-3530-92E4A90F3629}"/>
              </a:ext>
            </a:extLst>
          </p:cNvPr>
          <p:cNvSpPr txBox="1"/>
          <p:nvPr/>
        </p:nvSpPr>
        <p:spPr>
          <a:xfrm>
            <a:off x="452281" y="3761967"/>
            <a:ext cx="1081548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STEP 1: CHECK IF THE PRODUCT EXISTS</a:t>
            </a:r>
          </a:p>
          <a:p>
            <a:pPr>
              <a:buNone/>
            </a:pPr>
            <a:r>
              <a:rPr lang="en-US" dirty="0"/>
              <a:t>First, the system checks whether the product name entered by the user exists in the dataset.</a:t>
            </a:r>
          </a:p>
          <a:p>
            <a:pPr>
              <a:buNone/>
            </a:pPr>
            <a:r>
              <a:rPr lang="en-US" dirty="0"/>
              <a:t>If the product is not found: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prints a message saying the item is not found.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returns an empty result.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process stops there.</a:t>
            </a:r>
          </a:p>
          <a:p>
            <a:pPr>
              <a:buNone/>
            </a:pPr>
            <a:r>
              <a:rPr lang="en-US" dirty="0"/>
              <a:t>If the product exists, then it continues.</a:t>
            </a:r>
          </a:p>
        </p:txBody>
      </p:sp>
    </p:spTree>
    <p:extLst>
      <p:ext uri="{BB962C8B-B14F-4D97-AF65-F5344CB8AC3E}">
        <p14:creationId xmlns:p14="http://schemas.microsoft.com/office/powerpoint/2010/main" val="1150290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A2144C-5F0B-3F39-51F8-2BDCF8701112}"/>
              </a:ext>
            </a:extLst>
          </p:cNvPr>
          <p:cNvSpPr txBox="1"/>
          <p:nvPr/>
        </p:nvSpPr>
        <p:spPr>
          <a:xfrm>
            <a:off x="412955" y="413065"/>
            <a:ext cx="1152340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STEP 2: CONVERT TEXT (TAGS) INTO NUMBERS</a:t>
            </a:r>
          </a:p>
          <a:p>
            <a:pPr>
              <a:buNone/>
            </a:pPr>
            <a:r>
              <a:rPr lang="en-US" dirty="0"/>
              <a:t>Computers cannot understand text directly.</a:t>
            </a:r>
          </a:p>
          <a:p>
            <a:pPr>
              <a:buNone/>
            </a:pPr>
            <a:r>
              <a:rPr lang="en-US" dirty="0"/>
              <a:t>So the “Tags” column (which contains text like “wireless </a:t>
            </a:r>
            <a:r>
              <a:rPr lang="en-US" dirty="0" err="1"/>
              <a:t>bluetooth</a:t>
            </a:r>
            <a:r>
              <a:rPr lang="en-US" dirty="0"/>
              <a:t> headphones”) is converted into numbers using a method called TF-IDF.</a:t>
            </a:r>
          </a:p>
          <a:p>
            <a:pPr>
              <a:buNone/>
            </a:pPr>
            <a:r>
              <a:rPr lang="en-US" dirty="0"/>
              <a:t>What happens here?</a:t>
            </a:r>
          </a:p>
          <a:p>
            <a:pPr>
              <a:buFont typeface="+mj-lt"/>
              <a:buAutoNum type="arabicPeriod"/>
            </a:pPr>
            <a:r>
              <a:rPr lang="en-US" dirty="0"/>
              <a:t>All product tags are taken.</a:t>
            </a:r>
          </a:p>
          <a:p>
            <a:pPr>
              <a:buFont typeface="+mj-lt"/>
              <a:buAutoNum type="arabicPeriod"/>
            </a:pPr>
            <a:r>
              <a:rPr lang="en-US" dirty="0"/>
              <a:t>Sentences are broken into individual words.</a:t>
            </a:r>
          </a:p>
          <a:p>
            <a:pPr>
              <a:buFont typeface="+mj-lt"/>
              <a:buAutoNum type="arabicPeriod"/>
            </a:pPr>
            <a:r>
              <a:rPr lang="en-US" dirty="0"/>
              <a:t>Common words like “the”, “is”, etc. are removed.</a:t>
            </a:r>
          </a:p>
          <a:p>
            <a:pPr>
              <a:buFont typeface="+mj-lt"/>
              <a:buAutoNum type="arabicPeriod"/>
            </a:pPr>
            <a:r>
              <a:rPr lang="en-US" dirty="0"/>
              <a:t>Each word is converted into a numeric value.</a:t>
            </a:r>
          </a:p>
          <a:p>
            <a:pPr>
              <a:buFont typeface="+mj-lt"/>
              <a:buAutoNum type="arabicPeriod"/>
            </a:pPr>
            <a:r>
              <a:rPr lang="en-US" dirty="0"/>
              <a:t>A matrix is created where: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Rows = products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Columns = words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Values = importance of that word in that product</a:t>
            </a:r>
          </a:p>
          <a:p>
            <a:pPr>
              <a:buNone/>
            </a:pPr>
            <a:r>
              <a:rPr lang="en-US" dirty="0"/>
              <a:t>Now each product becomes a numeric vector.</a:t>
            </a:r>
          </a:p>
        </p:txBody>
      </p:sp>
    </p:spTree>
    <p:extLst>
      <p:ext uri="{BB962C8B-B14F-4D97-AF65-F5344CB8AC3E}">
        <p14:creationId xmlns:p14="http://schemas.microsoft.com/office/powerpoint/2010/main" val="121013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E072FB-86FD-1117-395C-5BA6CC3C5C9D}"/>
              </a:ext>
            </a:extLst>
          </p:cNvPr>
          <p:cNvSpPr txBox="1"/>
          <p:nvPr/>
        </p:nvSpPr>
        <p:spPr>
          <a:xfrm>
            <a:off x="442451" y="289679"/>
            <a:ext cx="1140541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STEP 3: CALCULATE SIMILARITY BETWEEN PRODUCTS</a:t>
            </a:r>
          </a:p>
          <a:p>
            <a:pPr>
              <a:buNone/>
            </a:pPr>
            <a:r>
              <a:rPr lang="en-US" dirty="0"/>
              <a:t>After converting text into numbers, the system calculates similarity between all products.</a:t>
            </a:r>
          </a:p>
          <a:p>
            <a:pPr>
              <a:buNone/>
            </a:pPr>
            <a:r>
              <a:rPr lang="en-US" dirty="0"/>
              <a:t>This is done using cosine similarity.</a:t>
            </a:r>
          </a:p>
          <a:p>
            <a:pPr>
              <a:buNone/>
            </a:pPr>
            <a:r>
              <a:rPr lang="en-US" dirty="0"/>
              <a:t>Cosine similarity measures how close two products are based on their tag vectors.</a:t>
            </a:r>
          </a:p>
          <a:p>
            <a:pPr>
              <a:buNone/>
            </a:pPr>
            <a:r>
              <a:rPr lang="en-US" dirty="0"/>
              <a:t>If similarity score is: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Close to 1 → very similar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Close to 0 → not similar</a:t>
            </a:r>
          </a:p>
          <a:p>
            <a:pPr>
              <a:buNone/>
            </a:pPr>
            <a:r>
              <a:rPr lang="en-US" dirty="0"/>
              <a:t>A similarity matrix is created where:</a:t>
            </a:r>
            <a:br>
              <a:rPr lang="en-US" dirty="0"/>
            </a:br>
            <a:r>
              <a:rPr lang="en-US" dirty="0"/>
              <a:t>Each product is compared with every other product.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91C35D-9116-37AB-FFE9-3C619F09C968}"/>
              </a:ext>
            </a:extLst>
          </p:cNvPr>
          <p:cNvSpPr txBox="1"/>
          <p:nvPr/>
        </p:nvSpPr>
        <p:spPr>
          <a:xfrm>
            <a:off x="363792" y="3319515"/>
            <a:ext cx="1100229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STEP 4: FIND THE SELECTED PRODUCT INDEX</a:t>
            </a:r>
          </a:p>
          <a:p>
            <a:pPr>
              <a:buNone/>
            </a:pPr>
            <a:r>
              <a:rPr lang="en-US" dirty="0"/>
              <a:t>The system finds the row number (index) of the product selected by the user.</a:t>
            </a:r>
          </a:p>
          <a:p>
            <a:pPr>
              <a:buNone/>
            </a:pPr>
            <a:r>
              <a:rPr lang="en-US" dirty="0"/>
              <a:t>For example:</a:t>
            </a:r>
            <a:br>
              <a:rPr lang="en-US" dirty="0"/>
            </a:br>
            <a:r>
              <a:rPr lang="en-US" dirty="0"/>
              <a:t>If the selected product is at row 5,</a:t>
            </a:r>
            <a:br>
              <a:rPr lang="en-US" dirty="0"/>
            </a:br>
            <a:r>
              <a:rPr lang="en-US" dirty="0"/>
              <a:t>Then index = 5.</a:t>
            </a:r>
          </a:p>
          <a:p>
            <a:pPr>
              <a:buNone/>
            </a:pPr>
            <a:r>
              <a:rPr lang="en-US" dirty="0"/>
              <a:t>This index helps the system know which product to compare with others.</a:t>
            </a:r>
          </a:p>
        </p:txBody>
      </p:sp>
    </p:spTree>
    <p:extLst>
      <p:ext uri="{BB962C8B-B14F-4D97-AF65-F5344CB8AC3E}">
        <p14:creationId xmlns:p14="http://schemas.microsoft.com/office/powerpoint/2010/main" val="2479647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BABE8A-F23D-0E04-4455-3FA44F96F055}"/>
              </a:ext>
            </a:extLst>
          </p:cNvPr>
          <p:cNvSpPr txBox="1"/>
          <p:nvPr/>
        </p:nvSpPr>
        <p:spPr>
          <a:xfrm>
            <a:off x="334297" y="604965"/>
            <a:ext cx="106876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STEP 5: GET SIMILARITY SCORES FOR THAT PRODUCT</a:t>
            </a:r>
          </a:p>
          <a:p>
            <a:pPr>
              <a:buNone/>
            </a:pPr>
            <a:r>
              <a:rPr lang="en-US" dirty="0"/>
              <a:t>Now the system looks at the similarity matrix and extracts similarity scores of the selected product with all other products.</a:t>
            </a:r>
          </a:p>
          <a:p>
            <a:pPr>
              <a:buNone/>
            </a:pPr>
            <a:r>
              <a:rPr lang="en-US" dirty="0"/>
              <a:t>It creates a list like this conceptually:</a:t>
            </a:r>
          </a:p>
          <a:p>
            <a:pPr>
              <a:buNone/>
            </a:pPr>
            <a:r>
              <a:rPr lang="en-US" dirty="0"/>
              <a:t>(Product 0, similarity score)</a:t>
            </a:r>
            <a:br>
              <a:rPr lang="en-US" dirty="0"/>
            </a:br>
            <a:r>
              <a:rPr lang="en-US" dirty="0"/>
              <a:t>(Product 1, similarity score)</a:t>
            </a:r>
            <a:br>
              <a:rPr lang="en-US" dirty="0"/>
            </a:br>
            <a:r>
              <a:rPr lang="en-US" dirty="0"/>
              <a:t>(Product 2, similarity score)</a:t>
            </a:r>
            <a:br>
              <a:rPr lang="en-US" dirty="0"/>
            </a:br>
            <a:r>
              <a:rPr lang="en-US" dirty="0"/>
              <a:t>and so 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775FD2-BCB7-9031-1E65-E346B90DC04D}"/>
              </a:ext>
            </a:extLst>
          </p:cNvPr>
          <p:cNvSpPr txBox="1"/>
          <p:nvPr/>
        </p:nvSpPr>
        <p:spPr>
          <a:xfrm>
            <a:off x="334296" y="3429000"/>
            <a:ext cx="1124810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STEP 6: SORT PRODUCTS BY SIMILARITY</a:t>
            </a:r>
          </a:p>
          <a:p>
            <a:pPr>
              <a:buNone/>
            </a:pPr>
            <a:r>
              <a:rPr lang="en-US" dirty="0"/>
              <a:t>The system sorts all products based on similarity score in descending order.</a:t>
            </a:r>
          </a:p>
          <a:p>
            <a:pPr>
              <a:buNone/>
            </a:pPr>
            <a:r>
              <a:rPr lang="en-US" dirty="0"/>
              <a:t>Highest similarity comes first.</a:t>
            </a:r>
          </a:p>
          <a:p>
            <a:pPr>
              <a:buNone/>
            </a:pPr>
            <a:r>
              <a:rPr lang="en-US" dirty="0"/>
              <a:t>Important:</a:t>
            </a:r>
            <a:br>
              <a:rPr lang="en-US" dirty="0"/>
            </a:br>
            <a:r>
              <a:rPr lang="en-US" dirty="0"/>
              <a:t>The first result will always be the product itself,</a:t>
            </a:r>
            <a:br>
              <a:rPr lang="en-US" dirty="0"/>
            </a:br>
            <a:r>
              <a:rPr lang="en-US" dirty="0"/>
              <a:t>because any product is 100% similar to itself.</a:t>
            </a:r>
          </a:p>
        </p:txBody>
      </p:sp>
    </p:spTree>
    <p:extLst>
      <p:ext uri="{BB962C8B-B14F-4D97-AF65-F5344CB8AC3E}">
        <p14:creationId xmlns:p14="http://schemas.microsoft.com/office/powerpoint/2010/main" val="3783685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4189C6-46A6-8C61-F9C6-6D74380163E2}"/>
              </a:ext>
            </a:extLst>
          </p:cNvPr>
          <p:cNvSpPr txBox="1"/>
          <p:nvPr/>
        </p:nvSpPr>
        <p:spPr>
          <a:xfrm>
            <a:off x="501445" y="478842"/>
            <a:ext cx="1073682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STEP 7: SELECT TOP SIMILAR PRODUCTS</a:t>
            </a:r>
          </a:p>
          <a:p>
            <a:pPr>
              <a:buNone/>
            </a:pPr>
            <a:r>
              <a:rPr lang="en-US" dirty="0"/>
              <a:t>After sorting, the system selects the top N similar products.</a:t>
            </a:r>
          </a:p>
          <a:p>
            <a:pPr>
              <a:buNone/>
            </a:pPr>
            <a:r>
              <a:rPr lang="en-US" dirty="0"/>
              <a:t>For example:</a:t>
            </a:r>
            <a:br>
              <a:rPr lang="en-US" dirty="0"/>
            </a:br>
            <a:r>
              <a:rPr lang="en-US" dirty="0"/>
              <a:t>If </a:t>
            </a:r>
            <a:r>
              <a:rPr lang="en-US" dirty="0" err="1"/>
              <a:t>top_n</a:t>
            </a:r>
            <a:r>
              <a:rPr lang="en-US" dirty="0"/>
              <a:t> = 10,</a:t>
            </a:r>
            <a:br>
              <a:rPr lang="en-US" dirty="0"/>
            </a:br>
            <a:r>
              <a:rPr lang="en-US" dirty="0"/>
              <a:t>It selects the 10 most similar products.</a:t>
            </a:r>
          </a:p>
          <a:p>
            <a:pPr>
              <a:buNone/>
            </a:pPr>
            <a:r>
              <a:rPr lang="en-US" dirty="0"/>
              <a:t>Usually, the product itself should be removed from the recommendation list.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8AB445-0459-D9ED-CA89-628DE0D4C85D}"/>
              </a:ext>
            </a:extLst>
          </p:cNvPr>
          <p:cNvSpPr txBox="1"/>
          <p:nvPr/>
        </p:nvSpPr>
        <p:spPr>
          <a:xfrm>
            <a:off x="501444" y="2936906"/>
            <a:ext cx="1032387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STEP 8: FETCH PRODUCT DETAILS</a:t>
            </a:r>
          </a:p>
          <a:p>
            <a:pPr>
              <a:buNone/>
            </a:pPr>
            <a:r>
              <a:rPr lang="en-US" dirty="0"/>
              <a:t>Now the system retrieves useful information of the selected similar products,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Product Name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Review Count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Brand</a:t>
            </a:r>
          </a:p>
          <a:p>
            <a:pPr>
              <a:buNone/>
            </a:pPr>
            <a:r>
              <a:rPr lang="en-US" dirty="0"/>
              <a:t>Only these details are returned to the user.</a:t>
            </a:r>
          </a:p>
        </p:txBody>
      </p:sp>
    </p:spTree>
    <p:extLst>
      <p:ext uri="{BB962C8B-B14F-4D97-AF65-F5344CB8AC3E}">
        <p14:creationId xmlns:p14="http://schemas.microsoft.com/office/powerpoint/2010/main" val="1184334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299D80-46AE-0341-0C05-7E6378104329}"/>
              </a:ext>
            </a:extLst>
          </p:cNvPr>
          <p:cNvSpPr txBox="1"/>
          <p:nvPr/>
        </p:nvSpPr>
        <p:spPr>
          <a:xfrm>
            <a:off x="589935" y="782793"/>
            <a:ext cx="1056967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FINAL FLOW IN SIMPLE WORDS</a:t>
            </a:r>
          </a:p>
          <a:p>
            <a:pPr>
              <a:buFont typeface="+mj-lt"/>
              <a:buAutoNum type="arabicPeriod"/>
            </a:pPr>
            <a:r>
              <a:rPr lang="en-US" dirty="0"/>
              <a:t>User selects a product.</a:t>
            </a:r>
          </a:p>
          <a:p>
            <a:pPr>
              <a:buFont typeface="+mj-lt"/>
              <a:buAutoNum type="arabicPeriod"/>
            </a:pPr>
            <a:r>
              <a:rPr lang="en-US" dirty="0"/>
              <a:t>System checks if product exists.</a:t>
            </a:r>
          </a:p>
          <a:p>
            <a:pPr>
              <a:buFont typeface="+mj-lt"/>
              <a:buAutoNum type="arabicPeriod"/>
            </a:pPr>
            <a:r>
              <a:rPr lang="en-US" dirty="0"/>
              <a:t>Product tags are converted into numbers.</a:t>
            </a:r>
          </a:p>
          <a:p>
            <a:pPr>
              <a:buFont typeface="+mj-lt"/>
              <a:buAutoNum type="arabicPeriod"/>
            </a:pPr>
            <a:r>
              <a:rPr lang="en-US" dirty="0"/>
              <a:t>Similarity between products is calculated.</a:t>
            </a:r>
          </a:p>
          <a:p>
            <a:pPr>
              <a:buFont typeface="+mj-lt"/>
              <a:buAutoNum type="arabicPeriod"/>
            </a:pPr>
            <a:r>
              <a:rPr lang="en-US" dirty="0"/>
              <a:t>Products are sorted by similarity.</a:t>
            </a:r>
          </a:p>
          <a:p>
            <a:pPr>
              <a:buFont typeface="+mj-lt"/>
              <a:buAutoNum type="arabicPeriod"/>
            </a:pPr>
            <a:r>
              <a:rPr lang="en-US" dirty="0"/>
              <a:t>Top similar products are selected.</a:t>
            </a:r>
          </a:p>
          <a:p>
            <a:pPr>
              <a:buFont typeface="+mj-lt"/>
              <a:buAutoNum type="arabicPeriod"/>
            </a:pPr>
            <a:r>
              <a:rPr lang="en-US" dirty="0"/>
              <a:t>Their details are returned as recommendations.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0C7904-31EE-C1A9-A22D-943C07AA5846}"/>
              </a:ext>
            </a:extLst>
          </p:cNvPr>
          <p:cNvSpPr txBox="1"/>
          <p:nvPr/>
        </p:nvSpPr>
        <p:spPr>
          <a:xfrm>
            <a:off x="589935" y="3766884"/>
            <a:ext cx="102845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WHY THIS IS CALLED CONTENT-BASED?</a:t>
            </a:r>
          </a:p>
          <a:p>
            <a:pPr>
              <a:buNone/>
            </a:pPr>
            <a:r>
              <a:rPr lang="en-US" dirty="0"/>
              <a:t>Because recommendation is based on product content (tags),</a:t>
            </a:r>
            <a:br>
              <a:rPr lang="en-US" dirty="0"/>
            </a:br>
            <a:r>
              <a:rPr lang="en-US" dirty="0"/>
              <a:t>not on other users' behavior.</a:t>
            </a:r>
          </a:p>
          <a:p>
            <a:pPr>
              <a:buNone/>
            </a:pPr>
            <a:r>
              <a:rPr lang="en-US" dirty="0"/>
              <a:t>If you like “Bluetooth Headphones”,</a:t>
            </a:r>
            <a:br>
              <a:rPr lang="en-US" dirty="0"/>
            </a:br>
            <a:r>
              <a:rPr lang="en-US" dirty="0"/>
              <a:t>the system recommends other products that also contain</a:t>
            </a:r>
            <a:br>
              <a:rPr lang="en-US" dirty="0"/>
            </a:br>
            <a:r>
              <a:rPr lang="en-US" dirty="0"/>
              <a:t>words like Bluetooth, wireless, audio, etc.</a:t>
            </a:r>
          </a:p>
        </p:txBody>
      </p:sp>
    </p:spTree>
    <p:extLst>
      <p:ext uri="{BB962C8B-B14F-4D97-AF65-F5344CB8AC3E}">
        <p14:creationId xmlns:p14="http://schemas.microsoft.com/office/powerpoint/2010/main" val="125702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EAA36A-9774-D4E4-CDB4-DB4F87221F71}"/>
              </a:ext>
            </a:extLst>
          </p:cNvPr>
          <p:cNvSpPr txBox="1"/>
          <p:nvPr/>
        </p:nvSpPr>
        <p:spPr>
          <a:xfrm>
            <a:off x="560439" y="707526"/>
            <a:ext cx="101468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SHORT SUMMARY</a:t>
            </a:r>
          </a:p>
          <a:p>
            <a:pPr>
              <a:buNone/>
            </a:pPr>
            <a:r>
              <a:rPr lang="en-US" dirty="0"/>
              <a:t>Content-based filtering works like this:</a:t>
            </a:r>
          </a:p>
          <a:p>
            <a:pPr>
              <a:buNone/>
            </a:pPr>
            <a:r>
              <a:rPr lang="en-US" dirty="0"/>
              <a:t>Similar content → Similar vector → High similarity → Recommended.</a:t>
            </a:r>
          </a:p>
        </p:txBody>
      </p:sp>
    </p:spTree>
    <p:extLst>
      <p:ext uri="{BB962C8B-B14F-4D97-AF65-F5344CB8AC3E}">
        <p14:creationId xmlns:p14="http://schemas.microsoft.com/office/powerpoint/2010/main" val="1222764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700</Words>
  <Application>Microsoft Office PowerPoint</Application>
  <PresentationFormat>Widescreen</PresentationFormat>
  <Paragraphs>70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simran bhutani</dc:creator>
  <cp:lastModifiedBy>simran bhutani</cp:lastModifiedBy>
  <cp:revision>1</cp:revision>
  <dcterms:created xsi:type="dcterms:W3CDTF">2026-02-17T11:44:17Z</dcterms:created>
  <dcterms:modified xsi:type="dcterms:W3CDTF">2026-02-17T13:17:07Z</dcterms:modified>
</cp:coreProperties>
</file>