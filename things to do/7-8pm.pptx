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91" r:id="rId3"/>
    <p:sldId id="324" r:id="rId4"/>
    <p:sldId id="325" r:id="rId5"/>
    <p:sldId id="326" r:id="rId6"/>
    <p:sldId id="327" r:id="rId7"/>
    <p:sldId id="328" r:id="rId8"/>
    <p:sldId id="329" r:id="rId9"/>
    <p:sldId id="330" r:id="rId10"/>
    <p:sldId id="331" r:id="rId11"/>
    <p:sldId id="332" r:id="rId12"/>
    <p:sldId id="333" r:id="rId13"/>
    <p:sldId id="33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F6F6-60E8-DC4F-D542-0CF7DF7719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1EECAE-31CB-5017-D94F-028B4B68CC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9A6315-5AD1-D7E4-6218-F1FE11E595A8}"/>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215A1FE3-4DE5-EF06-0C56-888A1194EF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D55B7B-BA8A-8A42-7601-7E42641EE0C1}"/>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203481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71CAC-84BA-31C2-2ED7-4DADC5BAA5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A6F284-373A-1073-68DA-2D453668C8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29652E-116C-007E-6B0A-20783C2C22BE}"/>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D579205C-5585-9EFE-F246-B9469A0F05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FEB134-F7D1-1718-1B4D-93A9E60B885D}"/>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1207922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2162-1CB0-73D2-544A-A8AF43B247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E794BC-6CD1-B27A-900E-BF602E8A75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5416C3-1C25-C604-1B46-EBC341E349EE}"/>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AF6A8A0E-4432-5705-9E6F-B4B2B060F4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CE6E8-72A8-2F8B-B19D-97DAC2F711DD}"/>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1932526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3CEE-CFA1-07EE-45E3-D6D38CD572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CDDC60-30CD-D5D9-493B-18FB4D8FB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9BDC3B-656F-A49A-15A4-8CF78FB8C9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185B03-5D8B-13F0-A3C5-E50013A5AE97}"/>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6" name="Footer Placeholder 5">
            <a:extLst>
              <a:ext uri="{FF2B5EF4-FFF2-40B4-BE49-F238E27FC236}">
                <a16:creationId xmlns:a16="http://schemas.microsoft.com/office/drawing/2014/main" id="{156DEFD1-210A-AF60-42CD-C44E1E55E3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9307E8-20E9-88F3-693A-52E21968C3F2}"/>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243047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BFE7-C5BC-25C5-FA51-7E69E14C6F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65CF66-D71A-7064-8B85-8F419D2C1A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53F7F8-E193-AA51-8AF8-5433B0107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C48D18-F3D0-499C-8DC3-F9B0C9EE89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041457-B01F-A8C2-F859-F85ECC846B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5B726D-2651-F234-2652-5378953FD9E1}"/>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8" name="Footer Placeholder 7">
            <a:extLst>
              <a:ext uri="{FF2B5EF4-FFF2-40B4-BE49-F238E27FC236}">
                <a16:creationId xmlns:a16="http://schemas.microsoft.com/office/drawing/2014/main" id="{E867CFB8-AA72-8B0A-6531-49AD306757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D03712-75B9-0EF1-2EED-50E30305988F}"/>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1680078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A13CE-5FC4-3C9A-7C94-2CF2312852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873629-AE93-3D0E-D8E4-293E15C6CB57}"/>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4" name="Footer Placeholder 3">
            <a:extLst>
              <a:ext uri="{FF2B5EF4-FFF2-40B4-BE49-F238E27FC236}">
                <a16:creationId xmlns:a16="http://schemas.microsoft.com/office/drawing/2014/main" id="{BEBCA2FB-EB56-4905-E857-29D8A0C6F2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F5A3F4-A4EB-8AEF-86D6-0D290730B673}"/>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201257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99BDE-2948-E105-ADE7-0A5447FE2E31}"/>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3" name="Footer Placeholder 2">
            <a:extLst>
              <a:ext uri="{FF2B5EF4-FFF2-40B4-BE49-F238E27FC236}">
                <a16:creationId xmlns:a16="http://schemas.microsoft.com/office/drawing/2014/main" id="{CEBC8463-0DC0-9C1D-8859-DB26A28E66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9400FA-0D34-A3B2-E712-4F5CDB5AF200}"/>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3530553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4434-A97A-C858-C4B9-50FDCCE439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7701AA-D9DA-F3AC-D5B1-1C532EB3E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DDB31F-A5AE-1916-04B0-8C9D4B92F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BEC94A-0830-8F72-A9EE-DDE36CAC8801}"/>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6" name="Footer Placeholder 5">
            <a:extLst>
              <a:ext uri="{FF2B5EF4-FFF2-40B4-BE49-F238E27FC236}">
                <a16:creationId xmlns:a16="http://schemas.microsoft.com/office/drawing/2014/main" id="{4FBA0F62-5508-80A7-4944-E2A724664B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465CB6-2ACF-3219-EC57-C604724D3914}"/>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1394177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98BD-55B8-2334-C8B3-415A08392F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C24BFB-0687-29A7-59D2-8C84C4D3C9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0CF02E-2B65-45AC-F510-16186E2654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597644-48C1-9F87-F0B5-C5F15759D1AF}"/>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6" name="Footer Placeholder 5">
            <a:extLst>
              <a:ext uri="{FF2B5EF4-FFF2-40B4-BE49-F238E27FC236}">
                <a16:creationId xmlns:a16="http://schemas.microsoft.com/office/drawing/2014/main" id="{00208A54-C4EC-3E66-AEF6-9C7892F5E0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01C4D1-F6FA-C9B6-D6BC-57DC196AC503}"/>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255990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2CEED-0752-D628-C9CC-DD9DF62425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7CF1F8-B988-1284-A969-6F0F2AED7B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885710-733C-FE04-44BC-C7D1C233CBE5}"/>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2C7B41E9-34E7-8055-BE20-00D99CC0F5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B838B1-3023-291A-9541-CD85B58DD6C9}"/>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258917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B7789-2FFE-8288-2061-9A0AB3451E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40B380-3D2F-6701-C702-9363D7B8F7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48B72-5B4D-3447-6B0D-78CDB8CC40A9}"/>
              </a:ext>
            </a:extLst>
          </p:cNvPr>
          <p:cNvSpPr>
            <a:spLocks noGrp="1"/>
          </p:cNvSpPr>
          <p:nvPr>
            <p:ph type="dt" sz="half" idx="10"/>
          </p:nvPr>
        </p:nvSpPr>
        <p:spPr/>
        <p:txBody>
          <a:body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1AD4614D-6CD2-5549-F2C9-3C689CED58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4A4F76-3A04-C81B-229C-BB0B8491EA6B}"/>
              </a:ext>
            </a:extLst>
          </p:cNvPr>
          <p:cNvSpPr>
            <a:spLocks noGrp="1"/>
          </p:cNvSpPr>
          <p:nvPr>
            <p:ph type="sldNum" sz="quarter" idx="12"/>
          </p:nvPr>
        </p:nvSpPr>
        <p:spPr/>
        <p:txBody>
          <a:bodyPr/>
          <a:lstStyle/>
          <a:p>
            <a:fld id="{42F54E5F-B8DC-4FA3-8E83-E4B65208624A}" type="slidenum">
              <a:rPr lang="en-IN" smtClean="0"/>
              <a:t>‹#›</a:t>
            </a:fld>
            <a:endParaRPr lang="en-IN"/>
          </a:p>
        </p:txBody>
      </p:sp>
    </p:spTree>
    <p:extLst>
      <p:ext uri="{BB962C8B-B14F-4D97-AF65-F5344CB8AC3E}">
        <p14:creationId xmlns:p14="http://schemas.microsoft.com/office/powerpoint/2010/main" val="92566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62EBC0-79C4-4034-9EE9-19719C916D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DE324F-7F99-55A2-6FEC-EBDF8E579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DF65A6-0FE4-95BD-0D2B-2AF07B6007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F45B8B-9973-43CE-A63E-85B185723CB9}" type="datetimeFigureOut">
              <a:rPr lang="en-IN" smtClean="0"/>
              <a:t>05-02-2026</a:t>
            </a:fld>
            <a:endParaRPr lang="en-IN"/>
          </a:p>
        </p:txBody>
      </p:sp>
      <p:sp>
        <p:nvSpPr>
          <p:cNvPr id="5" name="Footer Placeholder 4">
            <a:extLst>
              <a:ext uri="{FF2B5EF4-FFF2-40B4-BE49-F238E27FC236}">
                <a16:creationId xmlns:a16="http://schemas.microsoft.com/office/drawing/2014/main" id="{95E55EE0-C62A-737E-2221-6B1040274F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0908F99-F884-88FE-A919-B02B33C04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F54E5F-B8DC-4FA3-8E83-E4B65208624A}" type="slidenum">
              <a:rPr lang="en-IN" smtClean="0"/>
              <a:t>‹#›</a:t>
            </a:fld>
            <a:endParaRPr lang="en-IN"/>
          </a:p>
        </p:txBody>
      </p:sp>
    </p:spTree>
    <p:extLst>
      <p:ext uri="{BB962C8B-B14F-4D97-AF65-F5344CB8AC3E}">
        <p14:creationId xmlns:p14="http://schemas.microsoft.com/office/powerpoint/2010/main" val="3661219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360F03-1112-A0A0-CED8-E444DEBD2FB1}"/>
              </a:ext>
            </a:extLst>
          </p:cNvPr>
          <p:cNvSpPr txBox="1"/>
          <p:nvPr/>
        </p:nvSpPr>
        <p:spPr>
          <a:xfrm>
            <a:off x="678426" y="864866"/>
            <a:ext cx="10835148" cy="2862322"/>
          </a:xfrm>
          <a:prstGeom prst="rect">
            <a:avLst/>
          </a:prstGeom>
          <a:noFill/>
        </p:spPr>
        <p:txBody>
          <a:bodyPr wrap="square">
            <a:spAutoFit/>
          </a:bodyPr>
          <a:lstStyle/>
          <a:p>
            <a:pPr marL="0" marR="0">
              <a:buNone/>
            </a:pPr>
            <a:r>
              <a:rPr lang="en-US" sz="1800" dirty="0">
                <a:effectLst/>
                <a:latin typeface="Calibri" panose="020F0502020204030204" pitchFamily="34" charset="0"/>
              </a:rPr>
              <a:t>Now, we will create a new project folder in our C or D drive, where ever you want to create depends on you.</a:t>
            </a:r>
          </a:p>
          <a:p>
            <a:pPr marL="0" marR="0">
              <a:buNone/>
            </a:pPr>
            <a:endParaRPr lang="en-US" dirty="0">
              <a:latin typeface="Calibri" panose="020F0502020204030204" pitchFamily="34" charset="0"/>
            </a:endParaRPr>
          </a:p>
          <a:p>
            <a:r>
              <a:rPr lang="en-US" sz="1800" dirty="0" err="1">
                <a:effectLst/>
                <a:latin typeface="Calibri" panose="020F0502020204030204" pitchFamily="34" charset="0"/>
              </a:rPr>
              <a:t>Groq</a:t>
            </a:r>
            <a:r>
              <a:rPr lang="en-US" sz="1800" dirty="0">
                <a:effectLst/>
                <a:latin typeface="Calibri" panose="020F0502020204030204" pitchFamily="34" charset="0"/>
              </a:rPr>
              <a:t> </a:t>
            </a:r>
            <a:r>
              <a:rPr lang="en-US" sz="1800" dirty="0" err="1">
                <a:effectLst/>
                <a:latin typeface="Calibri" panose="020F0502020204030204" pitchFamily="34" charset="0"/>
              </a:rPr>
              <a:t>api</a:t>
            </a:r>
            <a:r>
              <a:rPr lang="en-US" sz="1800" dirty="0">
                <a:effectLst/>
                <a:latin typeface="Calibri" panose="020F0502020204030204" pitchFamily="34" charset="0"/>
              </a:rPr>
              <a:t> key</a:t>
            </a:r>
            <a:endParaRPr lang="en-US" dirty="0">
              <a:latin typeface="Calibri" panose="020F0502020204030204" pitchFamily="34" charset="0"/>
            </a:endParaRPr>
          </a:p>
          <a:p>
            <a:endParaRPr lang="en-US" sz="1800" dirty="0">
              <a:effectLst/>
              <a:latin typeface="Calibri" panose="020F0502020204030204" pitchFamily="34" charset="0"/>
            </a:endParaRPr>
          </a:p>
          <a:p>
            <a:endParaRPr lang="en-US" sz="1800" dirty="0">
              <a:effectLst/>
              <a:latin typeface="Calibri" panose="020F0502020204030204" pitchFamily="34" charset="0"/>
            </a:endParaRPr>
          </a:p>
          <a:p>
            <a:r>
              <a:rPr lang="en-IN" dirty="0"/>
              <a:t>In .env file we save the API keys.</a:t>
            </a:r>
          </a:p>
          <a:p>
            <a:endParaRPr lang="en-IN" dirty="0"/>
          </a:p>
          <a:p>
            <a:r>
              <a:rPr lang="en-IN" dirty="0"/>
              <a:t>GROQ_API_KEY = “  ”</a:t>
            </a:r>
          </a:p>
          <a:p>
            <a:endParaRPr lang="en-IN" dirty="0"/>
          </a:p>
          <a:p>
            <a:endParaRPr lang="en-US" sz="1800" dirty="0">
              <a:effectLst/>
              <a:latin typeface="Calibri" panose="020F0502020204030204" pitchFamily="34" charset="0"/>
            </a:endParaRPr>
          </a:p>
        </p:txBody>
      </p:sp>
    </p:spTree>
    <p:extLst>
      <p:ext uri="{BB962C8B-B14F-4D97-AF65-F5344CB8AC3E}">
        <p14:creationId xmlns:p14="http://schemas.microsoft.com/office/powerpoint/2010/main" val="1784082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4C668-B4AC-8A14-6AFB-D4BC7F13C9BE}"/>
              </a:ext>
            </a:extLst>
          </p:cNvPr>
          <p:cNvSpPr txBox="1"/>
          <p:nvPr/>
        </p:nvSpPr>
        <p:spPr>
          <a:xfrm>
            <a:off x="589936" y="424934"/>
            <a:ext cx="10550012" cy="2585323"/>
          </a:xfrm>
          <a:prstGeom prst="rect">
            <a:avLst/>
          </a:prstGeom>
          <a:noFill/>
        </p:spPr>
        <p:txBody>
          <a:bodyPr wrap="square">
            <a:spAutoFit/>
          </a:bodyPr>
          <a:lstStyle/>
          <a:p>
            <a:r>
              <a:rPr lang="en-IN" dirty="0"/>
              <a:t>2. Create virtual environment</a:t>
            </a:r>
          </a:p>
          <a:p>
            <a:endParaRPr lang="en-IN" dirty="0"/>
          </a:p>
          <a:p>
            <a:r>
              <a:rPr lang="en-IN" dirty="0"/>
              <a:t>python -m </a:t>
            </a:r>
            <a:r>
              <a:rPr lang="en-IN" dirty="0" err="1"/>
              <a:t>venv</a:t>
            </a:r>
            <a:r>
              <a:rPr lang="en-IN" dirty="0"/>
              <a:t> </a:t>
            </a:r>
            <a:r>
              <a:rPr lang="en-IN" dirty="0" err="1"/>
              <a:t>venv</a:t>
            </a:r>
            <a:endParaRPr lang="en-IN" dirty="0"/>
          </a:p>
          <a:p>
            <a:endParaRPr lang="en-IN" dirty="0"/>
          </a:p>
          <a:p>
            <a:r>
              <a:rPr lang="en-IN" dirty="0"/>
              <a:t>3. Activate the environment</a:t>
            </a:r>
          </a:p>
          <a:p>
            <a:endParaRPr lang="en-IN" dirty="0"/>
          </a:p>
          <a:p>
            <a:r>
              <a:rPr lang="en-IN" dirty="0" err="1"/>
              <a:t>venv</a:t>
            </a:r>
            <a:r>
              <a:rPr lang="en-IN" dirty="0"/>
              <a:t>\Scripts\activate</a:t>
            </a:r>
          </a:p>
          <a:p>
            <a:endParaRPr lang="en-IN" dirty="0"/>
          </a:p>
          <a:p>
            <a:endParaRPr lang="en-IN" dirty="0"/>
          </a:p>
        </p:txBody>
      </p:sp>
    </p:spTree>
    <p:extLst>
      <p:ext uri="{BB962C8B-B14F-4D97-AF65-F5344CB8AC3E}">
        <p14:creationId xmlns:p14="http://schemas.microsoft.com/office/powerpoint/2010/main" val="1386023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AFC154-BE07-2817-783F-CEC755133C4D}"/>
              </a:ext>
            </a:extLst>
          </p:cNvPr>
          <p:cNvSpPr txBox="1"/>
          <p:nvPr/>
        </p:nvSpPr>
        <p:spPr>
          <a:xfrm>
            <a:off x="383457" y="381366"/>
            <a:ext cx="11395587" cy="2308324"/>
          </a:xfrm>
          <a:prstGeom prst="rect">
            <a:avLst/>
          </a:prstGeom>
          <a:noFill/>
        </p:spPr>
        <p:txBody>
          <a:bodyPr wrap="square">
            <a:spAutoFit/>
          </a:bodyPr>
          <a:lstStyle/>
          <a:p>
            <a:endParaRPr lang="en-US" dirty="0"/>
          </a:p>
          <a:p>
            <a:r>
              <a:rPr lang="en-US" b="1" dirty="0"/>
              <a:t>PEP 8</a:t>
            </a:r>
            <a:r>
              <a:rPr lang="en-US" dirty="0"/>
              <a:t> is a </a:t>
            </a:r>
            <a:r>
              <a:rPr lang="en-US" b="1" dirty="0"/>
              <a:t>style guide</a:t>
            </a:r>
            <a:r>
              <a:rPr lang="en-US" dirty="0"/>
              <a:t> - it's a document that describes coding conventions and best practices for writing Python code. It covers things like:</a:t>
            </a:r>
          </a:p>
          <a:p>
            <a:r>
              <a:rPr lang="en-US" dirty="0"/>
              <a:t>Indentation (4 spaces)</a:t>
            </a:r>
          </a:p>
          <a:p>
            <a:r>
              <a:rPr lang="en-US" dirty="0"/>
              <a:t>Line length (79 characters)</a:t>
            </a:r>
          </a:p>
          <a:p>
            <a:r>
              <a:rPr lang="en-US" dirty="0"/>
              <a:t>Naming conventions (</a:t>
            </a:r>
            <a:r>
              <a:rPr lang="en-US" dirty="0" err="1"/>
              <a:t>snake_case</a:t>
            </a:r>
            <a:r>
              <a:rPr lang="en-US" dirty="0"/>
              <a:t> for functions, </a:t>
            </a:r>
            <a:r>
              <a:rPr lang="en-US" dirty="0" err="1"/>
              <a:t>PascalCase</a:t>
            </a:r>
            <a:r>
              <a:rPr lang="en-US" dirty="0"/>
              <a:t> for classes)</a:t>
            </a:r>
          </a:p>
          <a:p>
            <a:r>
              <a:rPr lang="en-US" dirty="0"/>
              <a:t>Where to put whitespace</a:t>
            </a:r>
          </a:p>
          <a:p>
            <a:r>
              <a:rPr lang="en-US" dirty="0"/>
              <a:t>Import organization</a:t>
            </a:r>
          </a:p>
        </p:txBody>
      </p:sp>
    </p:spTree>
    <p:extLst>
      <p:ext uri="{BB962C8B-B14F-4D97-AF65-F5344CB8AC3E}">
        <p14:creationId xmlns:p14="http://schemas.microsoft.com/office/powerpoint/2010/main" val="113750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83F8B0-110A-7140-6429-075126AC61FC}"/>
              </a:ext>
            </a:extLst>
          </p:cNvPr>
          <p:cNvSpPr txBox="1"/>
          <p:nvPr/>
        </p:nvSpPr>
        <p:spPr>
          <a:xfrm>
            <a:off x="344128" y="395437"/>
            <a:ext cx="10412361" cy="1754326"/>
          </a:xfrm>
          <a:prstGeom prst="rect">
            <a:avLst/>
          </a:prstGeom>
          <a:noFill/>
        </p:spPr>
        <p:txBody>
          <a:bodyPr wrap="square">
            <a:spAutoFit/>
          </a:bodyPr>
          <a:lstStyle/>
          <a:p>
            <a:r>
              <a:rPr lang="en-IN" dirty="0"/>
              <a:t>We can run this code to see the representation of data using the </a:t>
            </a:r>
            <a:r>
              <a:rPr lang="en-IN" dirty="0" err="1"/>
              <a:t>ast</a:t>
            </a:r>
            <a:r>
              <a:rPr lang="en-IN" dirty="0"/>
              <a:t> module. It will show the tree like structure. This is called Abstract syntax tree and its exactly the kind of data structure that we need in order to </a:t>
            </a:r>
            <a:r>
              <a:rPr lang="en-IN" dirty="0" err="1"/>
              <a:t>analyze</a:t>
            </a:r>
            <a:r>
              <a:rPr lang="en-IN" dirty="0"/>
              <a:t> our python source code. </a:t>
            </a:r>
          </a:p>
          <a:p>
            <a:endParaRPr lang="en-IN" dirty="0"/>
          </a:p>
          <a:p>
            <a:endParaRPr lang="en-IN" dirty="0"/>
          </a:p>
          <a:p>
            <a:r>
              <a:rPr lang="en-IN" dirty="0"/>
              <a:t> </a:t>
            </a:r>
          </a:p>
        </p:txBody>
      </p:sp>
    </p:spTree>
    <p:extLst>
      <p:ext uri="{BB962C8B-B14F-4D97-AF65-F5344CB8AC3E}">
        <p14:creationId xmlns:p14="http://schemas.microsoft.com/office/powerpoint/2010/main" val="2536053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702FF4-DD14-4EDD-8BE9-6A3DE7F08980}"/>
              </a:ext>
            </a:extLst>
          </p:cNvPr>
          <p:cNvSpPr txBox="1"/>
          <p:nvPr/>
        </p:nvSpPr>
        <p:spPr>
          <a:xfrm>
            <a:off x="432620" y="569875"/>
            <a:ext cx="10245212" cy="3970318"/>
          </a:xfrm>
          <a:prstGeom prst="rect">
            <a:avLst/>
          </a:prstGeom>
          <a:noFill/>
        </p:spPr>
        <p:txBody>
          <a:bodyPr wrap="square">
            <a:spAutoFit/>
          </a:bodyPr>
          <a:lstStyle/>
          <a:p>
            <a:r>
              <a:rPr lang="en-US" b="0" i="0" dirty="0">
                <a:effectLst/>
                <a:latin typeface="-apple-system"/>
              </a:rPr>
              <a:t>Abstract Syntax Trees (ASTs) are tree-like representations of the structure of source code. Python provides powerful tools for working with ASTs, allowing developers to analyze, modify, and generate code programmatically.</a:t>
            </a:r>
          </a:p>
          <a:p>
            <a:endParaRPr lang="en-US" dirty="0">
              <a:latin typeface="-apple-system"/>
            </a:endParaRPr>
          </a:p>
          <a:p>
            <a:r>
              <a:rPr lang="en-IN" dirty="0"/>
              <a:t>import </a:t>
            </a:r>
            <a:r>
              <a:rPr lang="en-IN" dirty="0" err="1"/>
              <a:t>ast</a:t>
            </a:r>
            <a:endParaRPr lang="en-IN" dirty="0"/>
          </a:p>
          <a:p>
            <a:endParaRPr lang="en-IN" dirty="0"/>
          </a:p>
          <a:p>
            <a:r>
              <a:rPr lang="en-IN" dirty="0"/>
              <a:t># Parse a simple Python expression into an AST</a:t>
            </a:r>
          </a:p>
          <a:p>
            <a:r>
              <a:rPr lang="en-IN" dirty="0"/>
              <a:t>node = </a:t>
            </a:r>
            <a:r>
              <a:rPr lang="en-IN" dirty="0" err="1"/>
              <a:t>ast.parse</a:t>
            </a:r>
            <a:r>
              <a:rPr lang="en-IN" dirty="0"/>
              <a:t>("x + y")</a:t>
            </a:r>
          </a:p>
          <a:p>
            <a:r>
              <a:rPr lang="en-IN" dirty="0"/>
              <a:t>print(</a:t>
            </a:r>
            <a:r>
              <a:rPr lang="en-IN" dirty="0" err="1"/>
              <a:t>ast.dump</a:t>
            </a:r>
            <a:r>
              <a:rPr lang="en-IN" dirty="0"/>
              <a:t>(node, indent=2))</a:t>
            </a:r>
          </a:p>
          <a:p>
            <a:r>
              <a:rPr lang="en-IN" dirty="0"/>
              <a:t> </a:t>
            </a:r>
          </a:p>
          <a:p>
            <a:r>
              <a:rPr lang="en-IN" dirty="0"/>
              <a:t>  </a:t>
            </a:r>
          </a:p>
          <a:p>
            <a:r>
              <a:rPr lang="en-IN" dirty="0"/>
              <a:t>  </a:t>
            </a:r>
          </a:p>
          <a:p>
            <a:r>
              <a:rPr lang="en-IN" dirty="0"/>
              <a:t>    </a:t>
            </a:r>
          </a:p>
          <a:p>
            <a:endParaRPr lang="en-IN" dirty="0"/>
          </a:p>
        </p:txBody>
      </p:sp>
    </p:spTree>
    <p:extLst>
      <p:ext uri="{BB962C8B-B14F-4D97-AF65-F5344CB8AC3E}">
        <p14:creationId xmlns:p14="http://schemas.microsoft.com/office/powerpoint/2010/main" val="315808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24C6EE-4E41-4C58-9D95-9F024EDC5736}"/>
              </a:ext>
            </a:extLst>
          </p:cNvPr>
          <p:cNvSpPr txBox="1"/>
          <p:nvPr/>
        </p:nvSpPr>
        <p:spPr>
          <a:xfrm>
            <a:off x="226141" y="74022"/>
            <a:ext cx="10785987" cy="2308324"/>
          </a:xfrm>
          <a:prstGeom prst="rect">
            <a:avLst/>
          </a:prstGeom>
          <a:noFill/>
        </p:spPr>
        <p:txBody>
          <a:bodyPr wrap="square">
            <a:spAutoFit/>
          </a:bodyPr>
          <a:lstStyle/>
          <a:p>
            <a:pPr>
              <a:buNone/>
            </a:pPr>
            <a:r>
              <a:rPr lang="en-US" b="1"/>
              <a:t>1. </a:t>
            </a:r>
            <a:r>
              <a:rPr lang="en-US" b="1">
                <a:latin typeface="Courier New" panose="02070309020205020404" pitchFamily="49" charset="0"/>
              </a:rPr>
              <a:t>ast.parse()</a:t>
            </a:r>
            <a:r>
              <a:rPr lang="en-US" b="1"/>
              <a:t> - The Code-to-Tree Converter</a:t>
            </a:r>
          </a:p>
          <a:p>
            <a:pPr>
              <a:buNone/>
            </a:pPr>
            <a:r>
              <a:rPr lang="en-US" b="1"/>
              <a:t>What it does:</a:t>
            </a:r>
          </a:p>
          <a:p>
            <a:pPr>
              <a:buNone/>
            </a:pPr>
            <a:r>
              <a:rPr lang="en-US"/>
              <a:t>Converts </a:t>
            </a:r>
            <a:r>
              <a:rPr lang="en-US" b="1"/>
              <a:t>text code</a:t>
            </a:r>
            <a:r>
              <a:rPr lang="en-US"/>
              <a:t> (string) into a </a:t>
            </a:r>
            <a:r>
              <a:rPr lang="en-US" b="1"/>
              <a:t>tree structure</a:t>
            </a:r>
            <a:r>
              <a:rPr lang="en-US"/>
              <a:t> (AST object) that Python can analyze.</a:t>
            </a:r>
          </a:p>
          <a:p>
            <a:pPr>
              <a:buNone/>
            </a:pPr>
            <a:r>
              <a:rPr lang="en-US" b="1"/>
              <a:t>Analogy:</a:t>
            </a:r>
          </a:p>
          <a:p>
            <a:pPr>
              <a:buNone/>
            </a:pPr>
            <a:r>
              <a:rPr lang="en-US"/>
              <a:t>Think of it like Google Translate:</a:t>
            </a:r>
          </a:p>
          <a:p>
            <a:pPr>
              <a:buFont typeface="Arial" panose="020B0604020202020204" pitchFamily="34" charset="0"/>
              <a:buChar char="•"/>
            </a:pPr>
            <a:r>
              <a:rPr lang="en-US" b="1"/>
              <a:t>Input:</a:t>
            </a:r>
            <a:r>
              <a:rPr lang="en-US"/>
              <a:t> Text in one language (Python code as string)</a:t>
            </a:r>
          </a:p>
          <a:p>
            <a:pPr>
              <a:buFont typeface="Arial" panose="020B0604020202020204" pitchFamily="34" charset="0"/>
              <a:buChar char="•"/>
            </a:pPr>
            <a:r>
              <a:rPr lang="en-US" b="1"/>
              <a:t>Output:</a:t>
            </a:r>
            <a:r>
              <a:rPr lang="en-US"/>
              <a:t> Structured data (Tree representation)</a:t>
            </a:r>
          </a:p>
          <a:p>
            <a:pPr>
              <a:buNone/>
            </a:pPr>
            <a:r>
              <a:rPr lang="en-US" b="1"/>
              <a:t>Detailed Explanation:</a:t>
            </a:r>
            <a:endParaRPr lang="en-US" b="1" dirty="0"/>
          </a:p>
        </p:txBody>
      </p:sp>
    </p:spTree>
    <p:extLst>
      <p:ext uri="{BB962C8B-B14F-4D97-AF65-F5344CB8AC3E}">
        <p14:creationId xmlns:p14="http://schemas.microsoft.com/office/powerpoint/2010/main" val="3601659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568E13-CE89-628B-7554-7EC1082ADFF5}"/>
              </a:ext>
            </a:extLst>
          </p:cNvPr>
          <p:cNvSpPr txBox="1"/>
          <p:nvPr/>
        </p:nvSpPr>
        <p:spPr>
          <a:xfrm>
            <a:off x="167148" y="0"/>
            <a:ext cx="11562735" cy="5909310"/>
          </a:xfrm>
          <a:prstGeom prst="rect">
            <a:avLst/>
          </a:prstGeom>
          <a:noFill/>
        </p:spPr>
        <p:txBody>
          <a:bodyPr wrap="square">
            <a:spAutoFit/>
          </a:bodyPr>
          <a:lstStyle/>
          <a:p>
            <a:r>
              <a:rPr lang="en-IN" dirty="0"/>
              <a:t>node = </a:t>
            </a:r>
            <a:r>
              <a:rPr lang="en-IN" dirty="0" err="1"/>
              <a:t>ast.parse</a:t>
            </a:r>
            <a:r>
              <a:rPr lang="en-IN" dirty="0"/>
              <a:t>("x + y")</a:t>
            </a:r>
          </a:p>
          <a:p>
            <a:r>
              <a:rPr lang="en-IN" dirty="0"/>
              <a:t>```</a:t>
            </a:r>
          </a:p>
          <a:p>
            <a:endParaRPr lang="en-IN" dirty="0"/>
          </a:p>
          <a:p>
            <a:r>
              <a:rPr lang="en-IN" dirty="0"/>
              <a:t>**Breaking it down:**</a:t>
            </a:r>
          </a:p>
          <a:p>
            <a:endParaRPr lang="en-IN" dirty="0"/>
          </a:p>
          <a:p>
            <a:r>
              <a:rPr lang="en-IN" dirty="0"/>
              <a:t>1. **`"x + y"`** - This is a STRING (text), not actual code</a:t>
            </a:r>
          </a:p>
          <a:p>
            <a:r>
              <a:rPr lang="en-IN" dirty="0"/>
              <a:t>   - Python sees it as: `'x + y'` (just characters)</a:t>
            </a:r>
          </a:p>
          <a:p>
            <a:r>
              <a:rPr lang="en-IN" dirty="0"/>
              <a:t>   - It's NOT running `x + y`, just reading it as text</a:t>
            </a:r>
          </a:p>
          <a:p>
            <a:endParaRPr lang="en-IN" dirty="0"/>
          </a:p>
          <a:p>
            <a:r>
              <a:rPr lang="en-IN" dirty="0"/>
              <a:t>2. **`</a:t>
            </a:r>
            <a:r>
              <a:rPr lang="en-IN" dirty="0" err="1"/>
              <a:t>ast.parse</a:t>
            </a:r>
            <a:r>
              <a:rPr lang="en-IN" dirty="0"/>
              <a:t>()`** - This function does the magic:</a:t>
            </a:r>
          </a:p>
          <a:p>
            <a:r>
              <a:rPr lang="en-IN" dirty="0"/>
              <a:t>   - Takes the string `"x + y"`</a:t>
            </a:r>
          </a:p>
          <a:p>
            <a:r>
              <a:rPr lang="en-IN" dirty="0"/>
              <a:t>   - </a:t>
            </a:r>
            <a:r>
              <a:rPr lang="en-IN" dirty="0" err="1"/>
              <a:t>Analyzes</a:t>
            </a:r>
            <a:r>
              <a:rPr lang="en-IN" dirty="0"/>
              <a:t> it like a Python interpreter would</a:t>
            </a:r>
          </a:p>
          <a:p>
            <a:r>
              <a:rPr lang="en-IN" dirty="0"/>
              <a:t>   - Builds a **tree structure** representing the code</a:t>
            </a:r>
          </a:p>
          <a:p>
            <a:endParaRPr lang="en-IN" dirty="0"/>
          </a:p>
          <a:p>
            <a:r>
              <a:rPr lang="en-IN" dirty="0"/>
              <a:t>3. **`node`** - The result is an AST object (tree):</a:t>
            </a:r>
          </a:p>
          <a:p>
            <a:r>
              <a:rPr lang="en-IN" dirty="0"/>
              <a:t>   - This is NOT a string anymore</a:t>
            </a:r>
          </a:p>
          <a:p>
            <a:r>
              <a:rPr lang="en-IN" dirty="0"/>
              <a:t>   - It's a complex Python object (tree structure)</a:t>
            </a:r>
          </a:p>
          <a:p>
            <a:endParaRPr lang="en-IN" dirty="0"/>
          </a:p>
          <a:p>
            <a:r>
              <a:rPr lang="en-IN" dirty="0"/>
              <a:t>---</a:t>
            </a:r>
          </a:p>
          <a:p>
            <a:endParaRPr lang="en-IN" dirty="0"/>
          </a:p>
          <a:p>
            <a:endParaRPr lang="en-IN" dirty="0"/>
          </a:p>
        </p:txBody>
      </p:sp>
    </p:spTree>
    <p:extLst>
      <p:ext uri="{BB962C8B-B14F-4D97-AF65-F5344CB8AC3E}">
        <p14:creationId xmlns:p14="http://schemas.microsoft.com/office/powerpoint/2010/main" val="124829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8E7A10-6BC0-503F-C4CA-B6988F5C71D8}"/>
              </a:ext>
            </a:extLst>
          </p:cNvPr>
          <p:cNvSpPr txBox="1"/>
          <p:nvPr/>
        </p:nvSpPr>
        <p:spPr>
          <a:xfrm>
            <a:off x="432620" y="322879"/>
            <a:ext cx="10146890" cy="4801314"/>
          </a:xfrm>
          <a:prstGeom prst="rect">
            <a:avLst/>
          </a:prstGeom>
          <a:noFill/>
        </p:spPr>
        <p:txBody>
          <a:bodyPr wrap="square">
            <a:spAutoFit/>
          </a:bodyPr>
          <a:lstStyle/>
          <a:p>
            <a:r>
              <a:rPr lang="en-IN" sz="1800" dirty="0"/>
              <a:t>###</a:t>
            </a:r>
            <a:r>
              <a:rPr lang="en-IN" dirty="0"/>
              <a:t>*</a:t>
            </a:r>
            <a:r>
              <a:rPr lang="en-IN" sz="1800" dirty="0"/>
              <a:t> *Visual Representation:**</a:t>
            </a:r>
          </a:p>
          <a:p>
            <a:r>
              <a:rPr lang="en-IN" sz="1800" dirty="0"/>
              <a:t>```</a:t>
            </a:r>
          </a:p>
          <a:p>
            <a:r>
              <a:rPr lang="en-IN" sz="1800" dirty="0"/>
              <a:t>INPUT (String):</a:t>
            </a:r>
          </a:p>
          <a:p>
            <a:r>
              <a:rPr lang="en-IN" sz="1800" dirty="0"/>
              <a:t>"x + y"</a:t>
            </a:r>
          </a:p>
          <a:p>
            <a:endParaRPr lang="en-IN" sz="1800" dirty="0"/>
          </a:p>
          <a:p>
            <a:r>
              <a:rPr lang="en-IN" sz="1800" dirty="0"/>
              <a:t>       ↓ </a:t>
            </a:r>
            <a:r>
              <a:rPr lang="en-IN" sz="1800" dirty="0" err="1"/>
              <a:t>ast.parse</a:t>
            </a:r>
            <a:r>
              <a:rPr lang="en-IN" sz="1800" dirty="0"/>
              <a:t>() ↓</a:t>
            </a:r>
          </a:p>
          <a:p>
            <a:endParaRPr lang="en-IN" sz="1800" dirty="0"/>
          </a:p>
          <a:p>
            <a:r>
              <a:rPr lang="en-IN" sz="1800" dirty="0"/>
              <a:t>OUTPUT (Tree Structure):</a:t>
            </a:r>
          </a:p>
          <a:p>
            <a:r>
              <a:rPr lang="en-IN" sz="1800" dirty="0"/>
              <a:t>         Module</a:t>
            </a:r>
          </a:p>
          <a:p>
            <a:r>
              <a:rPr lang="en-IN" sz="1800" dirty="0"/>
              <a:t>            ↓</a:t>
            </a:r>
          </a:p>
          <a:p>
            <a:r>
              <a:rPr lang="en-IN" sz="1800" dirty="0"/>
              <a:t>          Expr</a:t>
            </a:r>
          </a:p>
          <a:p>
            <a:r>
              <a:rPr lang="en-IN" sz="1800" dirty="0"/>
              <a:t>            ↓</a:t>
            </a:r>
          </a:p>
          <a:p>
            <a:r>
              <a:rPr lang="en-IN" sz="1800" dirty="0"/>
              <a:t>         </a:t>
            </a:r>
            <a:r>
              <a:rPr lang="en-IN" sz="1800" dirty="0" err="1"/>
              <a:t>BinOp</a:t>
            </a:r>
            <a:endParaRPr lang="en-IN" sz="1800" dirty="0"/>
          </a:p>
          <a:p>
            <a:r>
              <a:rPr lang="en-IN" sz="1800" dirty="0"/>
              <a:t>        /  |  \</a:t>
            </a:r>
          </a:p>
          <a:p>
            <a:r>
              <a:rPr lang="en-IN" sz="1800" dirty="0"/>
              <a:t>       /   |   \</a:t>
            </a:r>
          </a:p>
          <a:p>
            <a:r>
              <a:rPr lang="en-IN" sz="1800" dirty="0"/>
              <a:t>    Name  Add  Name</a:t>
            </a:r>
          </a:p>
          <a:p>
            <a:r>
              <a:rPr lang="en-IN" sz="1800" dirty="0"/>
              <a:t>    (x)   (+)  (y)</a:t>
            </a:r>
            <a:endParaRPr lang="en-IN" dirty="0"/>
          </a:p>
        </p:txBody>
      </p:sp>
    </p:spTree>
    <p:extLst>
      <p:ext uri="{BB962C8B-B14F-4D97-AF65-F5344CB8AC3E}">
        <p14:creationId xmlns:p14="http://schemas.microsoft.com/office/powerpoint/2010/main" val="2745943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43F9B4-4245-A441-E32E-45FC1EA81C1E}"/>
              </a:ext>
            </a:extLst>
          </p:cNvPr>
          <p:cNvSpPr txBox="1"/>
          <p:nvPr/>
        </p:nvSpPr>
        <p:spPr>
          <a:xfrm>
            <a:off x="235973" y="448496"/>
            <a:ext cx="10618839" cy="1754326"/>
          </a:xfrm>
          <a:prstGeom prst="rect">
            <a:avLst/>
          </a:prstGeom>
          <a:noFill/>
        </p:spPr>
        <p:txBody>
          <a:bodyPr wrap="square">
            <a:spAutoFit/>
          </a:bodyPr>
          <a:lstStyle/>
          <a:p>
            <a:pPr>
              <a:buNone/>
            </a:pPr>
            <a:r>
              <a:rPr lang="en-US" b="1" dirty="0"/>
              <a:t>2. </a:t>
            </a:r>
            <a:r>
              <a:rPr lang="en-US" b="1" dirty="0" err="1">
                <a:latin typeface="Courier New" panose="02070309020205020404" pitchFamily="49" charset="0"/>
              </a:rPr>
              <a:t>ast.dump</a:t>
            </a:r>
            <a:r>
              <a:rPr lang="en-US" b="1" dirty="0">
                <a:latin typeface="Courier New" panose="02070309020205020404" pitchFamily="49" charset="0"/>
              </a:rPr>
              <a:t>()</a:t>
            </a:r>
            <a:r>
              <a:rPr lang="en-US" b="1" dirty="0"/>
              <a:t> - The Tree Viewer</a:t>
            </a:r>
          </a:p>
          <a:p>
            <a:pPr>
              <a:buNone/>
            </a:pPr>
            <a:r>
              <a:rPr lang="en-US" b="1" dirty="0"/>
              <a:t>What it does:</a:t>
            </a:r>
          </a:p>
          <a:p>
            <a:pPr>
              <a:buNone/>
            </a:pPr>
            <a:r>
              <a:rPr lang="en-US" dirty="0"/>
              <a:t>Converts the </a:t>
            </a:r>
            <a:r>
              <a:rPr lang="en-US" b="1" dirty="0"/>
              <a:t>tree structure</a:t>
            </a:r>
            <a:r>
              <a:rPr lang="en-US" dirty="0"/>
              <a:t> (AST object) back into a </a:t>
            </a:r>
            <a:r>
              <a:rPr lang="en-US" b="1" dirty="0"/>
              <a:t>readable text format</a:t>
            </a:r>
            <a:r>
              <a:rPr lang="en-US" dirty="0"/>
              <a:t> so humans can see it.</a:t>
            </a:r>
          </a:p>
          <a:p>
            <a:pPr>
              <a:buNone/>
            </a:pPr>
            <a:r>
              <a:rPr lang="en-US" b="1" dirty="0"/>
              <a:t>Analogy:</a:t>
            </a:r>
          </a:p>
          <a:p>
            <a:pPr>
              <a:buNone/>
            </a:pPr>
            <a:r>
              <a:rPr lang="en-US" dirty="0"/>
              <a:t>Like taking an X-ray of the tree structure - it shows you what's inside.</a:t>
            </a:r>
          </a:p>
          <a:p>
            <a:pPr>
              <a:buNone/>
            </a:pPr>
            <a:r>
              <a:rPr lang="en-US" b="1" dirty="0"/>
              <a:t>Detailed Explanation:</a:t>
            </a:r>
          </a:p>
        </p:txBody>
      </p:sp>
      <p:sp>
        <p:nvSpPr>
          <p:cNvPr id="5" name="TextBox 4">
            <a:extLst>
              <a:ext uri="{FF2B5EF4-FFF2-40B4-BE49-F238E27FC236}">
                <a16:creationId xmlns:a16="http://schemas.microsoft.com/office/drawing/2014/main" id="{21153513-C434-93E8-3461-FD9693159A10}"/>
              </a:ext>
            </a:extLst>
          </p:cNvPr>
          <p:cNvSpPr txBox="1"/>
          <p:nvPr/>
        </p:nvSpPr>
        <p:spPr>
          <a:xfrm>
            <a:off x="412955" y="2450379"/>
            <a:ext cx="6096000" cy="369332"/>
          </a:xfrm>
          <a:prstGeom prst="rect">
            <a:avLst/>
          </a:prstGeom>
          <a:noFill/>
        </p:spPr>
        <p:txBody>
          <a:bodyPr wrap="square">
            <a:spAutoFit/>
          </a:bodyPr>
          <a:lstStyle/>
          <a:p>
            <a:r>
              <a:rPr lang="en-IN" dirty="0"/>
              <a:t>print(</a:t>
            </a:r>
            <a:r>
              <a:rPr lang="en-IN" dirty="0" err="1"/>
              <a:t>ast.dump</a:t>
            </a:r>
            <a:r>
              <a:rPr lang="en-IN" dirty="0"/>
              <a:t>(node, indent=2))</a:t>
            </a:r>
          </a:p>
        </p:txBody>
      </p:sp>
      <p:sp>
        <p:nvSpPr>
          <p:cNvPr id="7" name="TextBox 6">
            <a:extLst>
              <a:ext uri="{FF2B5EF4-FFF2-40B4-BE49-F238E27FC236}">
                <a16:creationId xmlns:a16="http://schemas.microsoft.com/office/drawing/2014/main" id="{F8B4F059-90B1-D3FF-DCB8-A002F1CC54FE}"/>
              </a:ext>
            </a:extLst>
          </p:cNvPr>
          <p:cNvSpPr txBox="1"/>
          <p:nvPr/>
        </p:nvSpPr>
        <p:spPr>
          <a:xfrm>
            <a:off x="324465" y="3250690"/>
            <a:ext cx="6096000" cy="2308324"/>
          </a:xfrm>
          <a:prstGeom prst="rect">
            <a:avLst/>
          </a:prstGeom>
          <a:noFill/>
        </p:spPr>
        <p:txBody>
          <a:bodyPr wrap="square">
            <a:spAutoFit/>
          </a:bodyPr>
          <a:lstStyle/>
          <a:p>
            <a:pPr>
              <a:buNone/>
            </a:pPr>
            <a:r>
              <a:rPr lang="en-US" b="1" dirty="0"/>
              <a:t>Breaking it down:</a:t>
            </a:r>
            <a:endParaRPr lang="en-US" dirty="0"/>
          </a:p>
          <a:p>
            <a:pPr>
              <a:buFont typeface="+mj-lt"/>
              <a:buAutoNum type="arabicPeriod"/>
            </a:pPr>
            <a:r>
              <a:rPr lang="en-US" b="1" dirty="0">
                <a:latin typeface="Courier New" panose="02070309020205020404" pitchFamily="49" charset="0"/>
              </a:rPr>
              <a:t>node</a:t>
            </a:r>
            <a:r>
              <a:rPr lang="en-US" dirty="0"/>
              <a:t> - The tree structure from </a:t>
            </a:r>
            <a:r>
              <a:rPr lang="en-US" dirty="0" err="1">
                <a:latin typeface="Courier New" panose="02070309020205020404" pitchFamily="49" charset="0"/>
              </a:rPr>
              <a:t>ast.parse</a:t>
            </a:r>
            <a:r>
              <a:rPr lang="en-US" dirty="0">
                <a:latin typeface="Courier New" panose="02070309020205020404" pitchFamily="49" charset="0"/>
              </a:rPr>
              <a:t>()</a:t>
            </a:r>
            <a:r>
              <a:rPr lang="en-US" dirty="0"/>
              <a:t> </a:t>
            </a:r>
          </a:p>
          <a:p>
            <a:pPr marL="742950" lvl="1" indent="-285750">
              <a:buFont typeface="+mj-lt"/>
              <a:buAutoNum type="arabicPeriod"/>
            </a:pPr>
            <a:r>
              <a:rPr lang="en-US" dirty="0"/>
              <a:t>This is a complex object you can't easily read</a:t>
            </a:r>
          </a:p>
          <a:p>
            <a:pPr marL="742950" lvl="1" indent="-285750">
              <a:buFont typeface="+mj-lt"/>
              <a:buAutoNum type="arabicPeriod"/>
            </a:pPr>
            <a:r>
              <a:rPr lang="en-US" dirty="0"/>
              <a:t>It's like a black box</a:t>
            </a:r>
          </a:p>
          <a:p>
            <a:pPr>
              <a:buFont typeface="+mj-lt"/>
              <a:buAutoNum type="arabicPeriod"/>
            </a:pPr>
            <a:r>
              <a:rPr lang="en-US" b="1" dirty="0" err="1">
                <a:latin typeface="Courier New" panose="02070309020205020404" pitchFamily="49" charset="0"/>
              </a:rPr>
              <a:t>ast.dump</a:t>
            </a:r>
            <a:r>
              <a:rPr lang="en-US" b="1" dirty="0">
                <a:latin typeface="Courier New" panose="02070309020205020404" pitchFamily="49" charset="0"/>
              </a:rPr>
              <a:t>()</a:t>
            </a:r>
            <a:r>
              <a:rPr lang="en-US" dirty="0"/>
              <a:t> - Shows you what's inside: </a:t>
            </a:r>
          </a:p>
          <a:p>
            <a:pPr marL="742950" lvl="1" indent="-285750">
              <a:buFont typeface="+mj-lt"/>
              <a:buAutoNum type="arabicPeriod"/>
            </a:pPr>
            <a:r>
              <a:rPr lang="en-US" dirty="0"/>
              <a:t>Takes the tree object</a:t>
            </a:r>
          </a:p>
          <a:p>
            <a:pPr marL="742950" lvl="1" indent="-285750">
              <a:buFont typeface="+mj-lt"/>
              <a:buAutoNum type="arabicPeriod"/>
            </a:pPr>
            <a:r>
              <a:rPr lang="en-US" dirty="0"/>
              <a:t>Converts it to readable text</a:t>
            </a:r>
          </a:p>
          <a:p>
            <a:pPr marL="742950" lvl="1" indent="-285750">
              <a:buFont typeface="+mj-lt"/>
              <a:buAutoNum type="arabicPeriod"/>
            </a:pPr>
            <a:r>
              <a:rPr lang="en-US" dirty="0"/>
              <a:t>Shows the structure in Python-like syntax</a:t>
            </a:r>
          </a:p>
        </p:txBody>
      </p:sp>
    </p:spTree>
    <p:extLst>
      <p:ext uri="{BB962C8B-B14F-4D97-AF65-F5344CB8AC3E}">
        <p14:creationId xmlns:p14="http://schemas.microsoft.com/office/powerpoint/2010/main" val="1191192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C14036-98BB-0078-8D3F-A18B6A5AAA0F}"/>
              </a:ext>
            </a:extLst>
          </p:cNvPr>
          <p:cNvSpPr txBox="1"/>
          <p:nvPr/>
        </p:nvSpPr>
        <p:spPr>
          <a:xfrm>
            <a:off x="403122" y="268123"/>
            <a:ext cx="6096000" cy="3416320"/>
          </a:xfrm>
          <a:prstGeom prst="rect">
            <a:avLst/>
          </a:prstGeom>
          <a:noFill/>
        </p:spPr>
        <p:txBody>
          <a:bodyPr wrap="square">
            <a:spAutoFit/>
          </a:bodyPr>
          <a:lstStyle/>
          <a:p>
            <a:r>
              <a:rPr lang="en-IN" dirty="0"/>
              <a:t>Module(</a:t>
            </a:r>
          </a:p>
          <a:p>
            <a:r>
              <a:rPr lang="en-IN" dirty="0"/>
              <a:t>  body=[</a:t>
            </a:r>
          </a:p>
          <a:p>
            <a:r>
              <a:rPr lang="en-IN" dirty="0"/>
              <a:t>    Expr(</a:t>
            </a:r>
          </a:p>
          <a:p>
            <a:r>
              <a:rPr lang="en-IN" dirty="0"/>
              <a:t>      value=</a:t>
            </a:r>
            <a:r>
              <a:rPr lang="en-IN" dirty="0" err="1"/>
              <a:t>BinOp</a:t>
            </a:r>
            <a:r>
              <a:rPr lang="en-IN" dirty="0"/>
              <a:t>(</a:t>
            </a:r>
          </a:p>
          <a:p>
            <a:r>
              <a:rPr lang="en-IN" dirty="0"/>
              <a:t>        left=Name(id='x', </a:t>
            </a:r>
            <a:r>
              <a:rPr lang="en-IN" dirty="0" err="1"/>
              <a:t>ctx</a:t>
            </a:r>
            <a:r>
              <a:rPr lang="en-IN" dirty="0"/>
              <a:t>=Load()),</a:t>
            </a:r>
          </a:p>
          <a:p>
            <a:r>
              <a:rPr lang="en-IN" dirty="0"/>
              <a:t>        op=Add(),</a:t>
            </a:r>
          </a:p>
          <a:p>
            <a:r>
              <a:rPr lang="en-IN" dirty="0"/>
              <a:t>        right=Name(id='y', </a:t>
            </a:r>
            <a:r>
              <a:rPr lang="en-IN" dirty="0" err="1"/>
              <a:t>ctx</a:t>
            </a:r>
            <a:r>
              <a:rPr lang="en-IN" dirty="0"/>
              <a:t>=Load())</a:t>
            </a:r>
          </a:p>
          <a:p>
            <a:r>
              <a:rPr lang="en-IN" dirty="0"/>
              <a:t>      )</a:t>
            </a:r>
          </a:p>
          <a:p>
            <a:r>
              <a:rPr lang="en-IN" dirty="0"/>
              <a:t>    )</a:t>
            </a:r>
          </a:p>
          <a:p>
            <a:r>
              <a:rPr lang="en-IN" dirty="0"/>
              <a:t>  ],</a:t>
            </a:r>
          </a:p>
          <a:p>
            <a:r>
              <a:rPr lang="en-IN" dirty="0"/>
              <a:t>  </a:t>
            </a:r>
            <a:r>
              <a:rPr lang="en-IN" dirty="0" err="1"/>
              <a:t>type_ignores</a:t>
            </a:r>
            <a:r>
              <a:rPr lang="en-IN" dirty="0"/>
              <a:t>=[]</a:t>
            </a:r>
          </a:p>
          <a:p>
            <a:r>
              <a:rPr lang="en-IN" dirty="0"/>
              <a:t>)</a:t>
            </a:r>
          </a:p>
        </p:txBody>
      </p:sp>
      <p:sp>
        <p:nvSpPr>
          <p:cNvPr id="5" name="TextBox 4">
            <a:extLst>
              <a:ext uri="{FF2B5EF4-FFF2-40B4-BE49-F238E27FC236}">
                <a16:creationId xmlns:a16="http://schemas.microsoft.com/office/drawing/2014/main" id="{8F6F5A91-158C-4256-55FF-E13E1D5F559E}"/>
              </a:ext>
            </a:extLst>
          </p:cNvPr>
          <p:cNvSpPr txBox="1"/>
          <p:nvPr/>
        </p:nvSpPr>
        <p:spPr>
          <a:xfrm>
            <a:off x="403122" y="3850458"/>
            <a:ext cx="6096000" cy="2308324"/>
          </a:xfrm>
          <a:prstGeom prst="rect">
            <a:avLst/>
          </a:prstGeom>
          <a:noFill/>
        </p:spPr>
        <p:txBody>
          <a:bodyPr wrap="square">
            <a:spAutoFit/>
          </a:bodyPr>
          <a:lstStyle/>
          <a:p>
            <a:pPr>
              <a:buNone/>
            </a:pPr>
            <a:r>
              <a:rPr lang="en-US" b="1" dirty="0"/>
              <a:t>Reading this:</a:t>
            </a:r>
            <a:endParaRPr lang="en-US" dirty="0"/>
          </a:p>
          <a:p>
            <a:pPr>
              <a:buFont typeface="Arial" panose="020B0604020202020204" pitchFamily="34" charset="0"/>
              <a:buChar char="•"/>
            </a:pPr>
            <a:r>
              <a:rPr lang="en-US" dirty="0">
                <a:latin typeface="Courier New" panose="02070309020205020404" pitchFamily="49" charset="0"/>
              </a:rPr>
              <a:t>Module</a:t>
            </a:r>
            <a:r>
              <a:rPr lang="en-US" dirty="0"/>
              <a:t> - Top-level container (every Python file is a module)</a:t>
            </a:r>
          </a:p>
          <a:p>
            <a:pPr>
              <a:buFont typeface="Arial" panose="020B0604020202020204" pitchFamily="34" charset="0"/>
              <a:buChar char="•"/>
            </a:pPr>
            <a:r>
              <a:rPr lang="en-US" dirty="0">
                <a:latin typeface="Courier New" panose="02070309020205020404" pitchFamily="49" charset="0"/>
              </a:rPr>
              <a:t>body=[...]</a:t>
            </a:r>
            <a:r>
              <a:rPr lang="en-US" dirty="0"/>
              <a:t> - Contents of the module</a:t>
            </a:r>
          </a:p>
          <a:p>
            <a:pPr>
              <a:buFont typeface="Arial" panose="020B0604020202020204" pitchFamily="34" charset="0"/>
              <a:buChar char="•"/>
            </a:pPr>
            <a:r>
              <a:rPr lang="en-US" dirty="0">
                <a:latin typeface="Courier New" panose="02070309020205020404" pitchFamily="49" charset="0"/>
              </a:rPr>
              <a:t>Expr</a:t>
            </a:r>
            <a:r>
              <a:rPr lang="en-US" dirty="0"/>
              <a:t> - An expression (something that returns a value)</a:t>
            </a:r>
          </a:p>
          <a:p>
            <a:pPr>
              <a:buFont typeface="Arial" panose="020B0604020202020204" pitchFamily="34" charset="0"/>
              <a:buChar char="•"/>
            </a:pPr>
            <a:r>
              <a:rPr lang="en-US" dirty="0" err="1">
                <a:latin typeface="Courier New" panose="02070309020205020404" pitchFamily="49" charset="0"/>
              </a:rPr>
              <a:t>BinOp</a:t>
            </a:r>
            <a:r>
              <a:rPr lang="en-US" dirty="0"/>
              <a:t> - Binary operation (two things with an operator) </a:t>
            </a:r>
          </a:p>
          <a:p>
            <a:pPr marL="742950" lvl="1" indent="-285750">
              <a:buFont typeface="Arial" panose="020B0604020202020204" pitchFamily="34" charset="0"/>
              <a:buChar char="•"/>
            </a:pPr>
            <a:r>
              <a:rPr lang="en-US" dirty="0">
                <a:latin typeface="Courier New" panose="02070309020205020404" pitchFamily="49" charset="0"/>
              </a:rPr>
              <a:t>left=Name(id='x')</a:t>
            </a:r>
            <a:r>
              <a:rPr lang="en-US" dirty="0"/>
              <a:t> - Left side is variable </a:t>
            </a:r>
            <a:r>
              <a:rPr lang="en-US" dirty="0">
                <a:latin typeface="Courier New" panose="02070309020205020404" pitchFamily="49" charset="0"/>
              </a:rPr>
              <a:t>x</a:t>
            </a:r>
            <a:endParaRPr lang="en-US" dirty="0"/>
          </a:p>
          <a:p>
            <a:pPr marL="742950" lvl="1" indent="-285750">
              <a:buFont typeface="Arial" panose="020B0604020202020204" pitchFamily="34" charset="0"/>
              <a:buChar char="•"/>
            </a:pPr>
            <a:r>
              <a:rPr lang="en-US" dirty="0">
                <a:latin typeface="Courier New" panose="02070309020205020404" pitchFamily="49" charset="0"/>
              </a:rPr>
              <a:t>op=Add()</a:t>
            </a:r>
            <a:r>
              <a:rPr lang="en-US" dirty="0"/>
              <a:t> - Operator is </a:t>
            </a:r>
            <a:r>
              <a:rPr lang="en-US" dirty="0">
                <a:latin typeface="Courier New" panose="02070309020205020404" pitchFamily="49" charset="0"/>
              </a:rPr>
              <a:t>+</a:t>
            </a:r>
            <a:endParaRPr lang="en-US" dirty="0"/>
          </a:p>
          <a:p>
            <a:pPr marL="742950" lvl="1" indent="-285750">
              <a:buFont typeface="Arial" panose="020B0604020202020204" pitchFamily="34" charset="0"/>
              <a:buChar char="•"/>
            </a:pPr>
            <a:r>
              <a:rPr lang="en-US" dirty="0">
                <a:latin typeface="Courier New" panose="02070309020205020404" pitchFamily="49" charset="0"/>
              </a:rPr>
              <a:t>right=Name(id='y')</a:t>
            </a:r>
            <a:r>
              <a:rPr lang="en-US" dirty="0"/>
              <a:t> - Right side is variable </a:t>
            </a:r>
            <a:r>
              <a:rPr lang="en-US" dirty="0">
                <a:latin typeface="Courier New" panose="02070309020205020404" pitchFamily="49" charset="0"/>
              </a:rPr>
              <a:t>y</a:t>
            </a:r>
            <a:endParaRPr lang="en-US" dirty="0"/>
          </a:p>
        </p:txBody>
      </p:sp>
    </p:spTree>
    <p:extLst>
      <p:ext uri="{BB962C8B-B14F-4D97-AF65-F5344CB8AC3E}">
        <p14:creationId xmlns:p14="http://schemas.microsoft.com/office/powerpoint/2010/main" val="15028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61B2DD-4D67-BEF7-ED62-119CC87A2BE8}"/>
              </a:ext>
            </a:extLst>
          </p:cNvPr>
          <p:cNvSpPr txBox="1"/>
          <p:nvPr/>
        </p:nvSpPr>
        <p:spPr>
          <a:xfrm>
            <a:off x="501445" y="607508"/>
            <a:ext cx="6096000" cy="1754326"/>
          </a:xfrm>
          <a:prstGeom prst="rect">
            <a:avLst/>
          </a:prstGeom>
          <a:noFill/>
        </p:spPr>
        <p:txBody>
          <a:bodyPr wrap="square">
            <a:spAutoFit/>
          </a:bodyPr>
          <a:lstStyle/>
          <a:p>
            <a:pPr>
              <a:buNone/>
            </a:pPr>
            <a:r>
              <a:rPr lang="en-US" b="1" dirty="0"/>
              <a:t>3. </a:t>
            </a:r>
            <a:r>
              <a:rPr lang="en-US" b="1" dirty="0">
                <a:latin typeface="Courier New" panose="02070309020205020404" pitchFamily="49" charset="0"/>
              </a:rPr>
              <a:t>indent=2</a:t>
            </a:r>
            <a:r>
              <a:rPr lang="en-US" b="1" dirty="0"/>
              <a:t> - The Formatting Parameter</a:t>
            </a:r>
          </a:p>
          <a:p>
            <a:pPr>
              <a:buNone/>
            </a:pPr>
            <a:r>
              <a:rPr lang="en-US" b="1" dirty="0"/>
              <a:t>What it does:</a:t>
            </a:r>
          </a:p>
          <a:p>
            <a:pPr>
              <a:buNone/>
            </a:pPr>
            <a:r>
              <a:rPr lang="en-US" dirty="0"/>
              <a:t>Makes the output </a:t>
            </a:r>
            <a:r>
              <a:rPr lang="en-US" b="1" dirty="0"/>
              <a:t>pretty</a:t>
            </a:r>
            <a:r>
              <a:rPr lang="en-US" dirty="0"/>
              <a:t> and </a:t>
            </a:r>
            <a:r>
              <a:rPr lang="en-US" b="1" dirty="0"/>
              <a:t>readable</a:t>
            </a:r>
            <a:r>
              <a:rPr lang="en-US" dirty="0"/>
              <a:t> by adding indentation (spaces).</a:t>
            </a:r>
          </a:p>
          <a:p>
            <a:pPr>
              <a:buNone/>
            </a:pPr>
            <a:r>
              <a:rPr lang="en-US" b="1" dirty="0"/>
              <a:t>Comparison:</a:t>
            </a:r>
          </a:p>
          <a:p>
            <a:pPr>
              <a:buNone/>
            </a:pPr>
            <a:r>
              <a:rPr lang="en-US" b="1" dirty="0"/>
              <a:t>WITHOUT </a:t>
            </a:r>
            <a:r>
              <a:rPr lang="en-US" b="1" dirty="0">
                <a:latin typeface="Courier New" panose="02070309020205020404" pitchFamily="49" charset="0"/>
              </a:rPr>
              <a:t>indent=2</a:t>
            </a:r>
            <a:r>
              <a:rPr lang="en-US" b="1" dirty="0"/>
              <a:t>:</a:t>
            </a:r>
          </a:p>
        </p:txBody>
      </p:sp>
      <p:sp>
        <p:nvSpPr>
          <p:cNvPr id="5" name="TextBox 4">
            <a:extLst>
              <a:ext uri="{FF2B5EF4-FFF2-40B4-BE49-F238E27FC236}">
                <a16:creationId xmlns:a16="http://schemas.microsoft.com/office/drawing/2014/main" id="{CDA76726-14BB-CA1F-2BD2-DD3F077D55FA}"/>
              </a:ext>
            </a:extLst>
          </p:cNvPr>
          <p:cNvSpPr txBox="1"/>
          <p:nvPr/>
        </p:nvSpPr>
        <p:spPr>
          <a:xfrm>
            <a:off x="422787" y="2632953"/>
            <a:ext cx="11208774" cy="1477328"/>
          </a:xfrm>
          <a:prstGeom prst="rect">
            <a:avLst/>
          </a:prstGeom>
          <a:noFill/>
        </p:spPr>
        <p:txBody>
          <a:bodyPr wrap="square">
            <a:spAutoFit/>
          </a:bodyPr>
          <a:lstStyle/>
          <a:p>
            <a:r>
              <a:rPr lang="en-IN" dirty="0"/>
              <a:t>print(</a:t>
            </a:r>
            <a:r>
              <a:rPr lang="en-IN" dirty="0" err="1"/>
              <a:t>ast.dump</a:t>
            </a:r>
            <a:r>
              <a:rPr lang="en-IN" dirty="0"/>
              <a:t>(node))</a:t>
            </a:r>
          </a:p>
          <a:p>
            <a:endParaRPr lang="en-IN" dirty="0"/>
          </a:p>
          <a:p>
            <a:r>
              <a:rPr lang="en-IN" dirty="0"/>
              <a:t># Output (all on one line):</a:t>
            </a:r>
          </a:p>
          <a:p>
            <a:r>
              <a:rPr lang="en-IN" dirty="0"/>
              <a:t>Module(body=[Expr(value=</a:t>
            </a:r>
            <a:r>
              <a:rPr lang="en-IN" dirty="0" err="1"/>
              <a:t>BinOp</a:t>
            </a:r>
            <a:r>
              <a:rPr lang="en-IN" dirty="0"/>
              <a:t>(left=Name(id='x', </a:t>
            </a:r>
            <a:r>
              <a:rPr lang="en-IN" dirty="0" err="1"/>
              <a:t>ctx</a:t>
            </a:r>
            <a:r>
              <a:rPr lang="en-IN" dirty="0"/>
              <a:t>=Load()), op=Add(), right=Name(id='y', </a:t>
            </a:r>
            <a:r>
              <a:rPr lang="en-IN" dirty="0" err="1"/>
              <a:t>ctx</a:t>
            </a:r>
            <a:r>
              <a:rPr lang="en-IN" dirty="0"/>
              <a:t>=Load())))], </a:t>
            </a:r>
            <a:r>
              <a:rPr lang="en-IN" dirty="0" err="1"/>
              <a:t>type_ignores</a:t>
            </a:r>
            <a:r>
              <a:rPr lang="en-IN" dirty="0"/>
              <a:t>=[])</a:t>
            </a:r>
          </a:p>
        </p:txBody>
      </p:sp>
      <p:sp>
        <p:nvSpPr>
          <p:cNvPr id="7" name="TextBox 6">
            <a:extLst>
              <a:ext uri="{FF2B5EF4-FFF2-40B4-BE49-F238E27FC236}">
                <a16:creationId xmlns:a16="http://schemas.microsoft.com/office/drawing/2014/main" id="{3B21A03C-056F-23CA-7CAB-350FC95744F1}"/>
              </a:ext>
            </a:extLst>
          </p:cNvPr>
          <p:cNvSpPr txBox="1"/>
          <p:nvPr/>
        </p:nvSpPr>
        <p:spPr>
          <a:xfrm>
            <a:off x="501445" y="4515154"/>
            <a:ext cx="6096000" cy="369332"/>
          </a:xfrm>
          <a:prstGeom prst="rect">
            <a:avLst/>
          </a:prstGeom>
          <a:noFill/>
        </p:spPr>
        <p:txBody>
          <a:bodyPr wrap="square">
            <a:spAutoFit/>
          </a:bodyPr>
          <a:lstStyle/>
          <a:p>
            <a:pPr>
              <a:buNone/>
            </a:pPr>
            <a:r>
              <a:rPr lang="en-US" b="1" dirty="0"/>
              <a:t>Problem:</a:t>
            </a:r>
            <a:r>
              <a:rPr lang="en-US" dirty="0"/>
              <a:t> Hard to read! Everything is squished together.</a:t>
            </a:r>
          </a:p>
        </p:txBody>
      </p:sp>
    </p:spTree>
    <p:extLst>
      <p:ext uri="{BB962C8B-B14F-4D97-AF65-F5344CB8AC3E}">
        <p14:creationId xmlns:p14="http://schemas.microsoft.com/office/powerpoint/2010/main" val="579489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D8EBFF-AEEE-F721-F29F-0F273F529857}"/>
              </a:ext>
            </a:extLst>
          </p:cNvPr>
          <p:cNvSpPr>
            <a:spLocks noChangeArrowheads="1"/>
          </p:cNvSpPr>
          <p:nvPr/>
        </p:nvSpPr>
        <p:spPr bwMode="auto">
          <a:xfrm>
            <a:off x="560439" y="303002"/>
            <a:ext cx="8357419"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WITH </a:t>
            </a:r>
            <a:r>
              <a:rPr kumimoji="0" lang="en-US" altLang="en-US" sz="2000" b="1" i="0" u="none" strike="noStrike" cap="none" normalizeH="0" baseline="0" dirty="0">
                <a:ln>
                  <a:noFill/>
                </a:ln>
                <a:solidFill>
                  <a:schemeClr val="tx1"/>
                </a:solidFill>
                <a:effectLst/>
                <a:latin typeface="Arial Unicode MS"/>
              </a:rPr>
              <a:t>indent=2</a:t>
            </a:r>
            <a:r>
              <a:rPr kumimoji="0" lang="en-US" altLang="en-US" sz="1600" b="1" i="0" u="none" strike="noStrike" cap="none" normalizeH="0" baseline="0" dirty="0">
                <a:ln>
                  <a:noFill/>
                </a:ln>
                <a:solidFill>
                  <a:schemeClr val="tx1"/>
                </a:solidFill>
                <a:effectLst/>
              </a:rPr>
              <a:t>:</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6F6EBA9-86C6-4C4C-FE48-8772B56618C0}"/>
              </a:ext>
            </a:extLst>
          </p:cNvPr>
          <p:cNvSpPr txBox="1"/>
          <p:nvPr/>
        </p:nvSpPr>
        <p:spPr>
          <a:xfrm>
            <a:off x="491613" y="980110"/>
            <a:ext cx="6096000" cy="4247317"/>
          </a:xfrm>
          <a:prstGeom prst="rect">
            <a:avLst/>
          </a:prstGeom>
          <a:noFill/>
        </p:spPr>
        <p:txBody>
          <a:bodyPr wrap="square">
            <a:spAutoFit/>
          </a:bodyPr>
          <a:lstStyle/>
          <a:p>
            <a:r>
              <a:rPr lang="en-IN" dirty="0"/>
              <a:t>print(</a:t>
            </a:r>
            <a:r>
              <a:rPr lang="en-IN" dirty="0" err="1"/>
              <a:t>ast.dump</a:t>
            </a:r>
            <a:r>
              <a:rPr lang="en-IN" dirty="0"/>
              <a:t>(node, indent=2))</a:t>
            </a:r>
          </a:p>
          <a:p>
            <a:endParaRPr lang="en-IN" dirty="0"/>
          </a:p>
          <a:p>
            <a:r>
              <a:rPr lang="en-IN" dirty="0"/>
              <a:t># Output (nicely formatted):</a:t>
            </a:r>
          </a:p>
          <a:p>
            <a:r>
              <a:rPr lang="en-IN" dirty="0"/>
              <a:t>Module(</a:t>
            </a:r>
          </a:p>
          <a:p>
            <a:r>
              <a:rPr lang="en-IN" dirty="0"/>
              <a:t>  body=[</a:t>
            </a:r>
          </a:p>
          <a:p>
            <a:r>
              <a:rPr lang="en-IN" dirty="0"/>
              <a:t>    Expr(</a:t>
            </a:r>
          </a:p>
          <a:p>
            <a:r>
              <a:rPr lang="en-IN" dirty="0"/>
              <a:t>      value=</a:t>
            </a:r>
            <a:r>
              <a:rPr lang="en-IN" dirty="0" err="1"/>
              <a:t>BinOp</a:t>
            </a:r>
            <a:r>
              <a:rPr lang="en-IN" dirty="0"/>
              <a:t>(</a:t>
            </a:r>
          </a:p>
          <a:p>
            <a:r>
              <a:rPr lang="en-IN" dirty="0"/>
              <a:t>        left=Name(id='x', </a:t>
            </a:r>
            <a:r>
              <a:rPr lang="en-IN" dirty="0" err="1"/>
              <a:t>ctx</a:t>
            </a:r>
            <a:r>
              <a:rPr lang="en-IN" dirty="0"/>
              <a:t>=Load()),</a:t>
            </a:r>
          </a:p>
          <a:p>
            <a:r>
              <a:rPr lang="en-IN" dirty="0"/>
              <a:t>        op=Add(),</a:t>
            </a:r>
          </a:p>
          <a:p>
            <a:r>
              <a:rPr lang="en-IN" dirty="0"/>
              <a:t>        right=Name(id='y', </a:t>
            </a:r>
            <a:r>
              <a:rPr lang="en-IN" dirty="0" err="1"/>
              <a:t>ctx</a:t>
            </a:r>
            <a:r>
              <a:rPr lang="en-IN" dirty="0"/>
              <a:t>=Load())</a:t>
            </a:r>
          </a:p>
          <a:p>
            <a:r>
              <a:rPr lang="en-IN" dirty="0"/>
              <a:t>      )</a:t>
            </a:r>
          </a:p>
          <a:p>
            <a:r>
              <a:rPr lang="en-IN" dirty="0"/>
              <a:t>    )</a:t>
            </a:r>
          </a:p>
          <a:p>
            <a:r>
              <a:rPr lang="en-IN" dirty="0"/>
              <a:t>  ],</a:t>
            </a:r>
          </a:p>
          <a:p>
            <a:r>
              <a:rPr lang="en-IN" dirty="0"/>
              <a:t>  </a:t>
            </a:r>
            <a:r>
              <a:rPr lang="en-IN" dirty="0" err="1"/>
              <a:t>type_ignores</a:t>
            </a:r>
            <a:r>
              <a:rPr lang="en-IN" dirty="0"/>
              <a:t>=[]</a:t>
            </a:r>
          </a:p>
          <a:p>
            <a:r>
              <a:rPr lang="en-IN" dirty="0"/>
              <a:t>)</a:t>
            </a:r>
          </a:p>
        </p:txBody>
      </p:sp>
      <p:sp>
        <p:nvSpPr>
          <p:cNvPr id="6" name="TextBox 5">
            <a:extLst>
              <a:ext uri="{FF2B5EF4-FFF2-40B4-BE49-F238E27FC236}">
                <a16:creationId xmlns:a16="http://schemas.microsoft.com/office/drawing/2014/main" id="{270AFC3A-E9AB-F39F-6063-4B7B8F4FEE59}"/>
              </a:ext>
            </a:extLst>
          </p:cNvPr>
          <p:cNvSpPr txBox="1"/>
          <p:nvPr/>
        </p:nvSpPr>
        <p:spPr>
          <a:xfrm>
            <a:off x="422787" y="5508558"/>
            <a:ext cx="6096000" cy="369332"/>
          </a:xfrm>
          <a:prstGeom prst="rect">
            <a:avLst/>
          </a:prstGeom>
          <a:noFill/>
        </p:spPr>
        <p:txBody>
          <a:bodyPr wrap="square">
            <a:spAutoFit/>
          </a:bodyPr>
          <a:lstStyle/>
          <a:p>
            <a:pPr>
              <a:buNone/>
            </a:pPr>
            <a:r>
              <a:rPr lang="en-US" b="1" dirty="0"/>
              <a:t>Better!</a:t>
            </a:r>
            <a:r>
              <a:rPr lang="en-US" dirty="0"/>
              <a:t> You can see the tree structure clearly.</a:t>
            </a:r>
          </a:p>
        </p:txBody>
      </p:sp>
    </p:spTree>
    <p:extLst>
      <p:ext uri="{BB962C8B-B14F-4D97-AF65-F5344CB8AC3E}">
        <p14:creationId xmlns:p14="http://schemas.microsoft.com/office/powerpoint/2010/main" val="386871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545DA-5BA0-8AF5-C412-C2A0277D0D05}"/>
              </a:ext>
            </a:extLst>
          </p:cNvPr>
          <p:cNvSpPr txBox="1"/>
          <p:nvPr/>
        </p:nvSpPr>
        <p:spPr>
          <a:xfrm>
            <a:off x="403122" y="383946"/>
            <a:ext cx="10726993" cy="1785104"/>
          </a:xfrm>
          <a:prstGeom prst="rect">
            <a:avLst/>
          </a:prstGeom>
          <a:noFill/>
        </p:spPr>
        <p:txBody>
          <a:bodyPr wrap="square">
            <a:spAutoFit/>
          </a:bodyPr>
          <a:lstStyle/>
          <a:p>
            <a:pPr algn="l">
              <a:spcAft>
                <a:spcPts val="1200"/>
              </a:spcAft>
              <a:buNone/>
            </a:pPr>
            <a:r>
              <a:rPr lang="en-US" b="0" i="0" dirty="0">
                <a:effectLst/>
                <a:latin typeface="-apple-system"/>
              </a:rPr>
              <a:t>Parsing Python Code into ASTs</a:t>
            </a:r>
          </a:p>
          <a:p>
            <a:pPr algn="l">
              <a:spcAft>
                <a:spcPts val="1200"/>
              </a:spcAft>
              <a:buNone/>
            </a:pPr>
            <a:r>
              <a:rPr lang="en-US" b="0" i="0" dirty="0">
                <a:effectLst/>
                <a:latin typeface="-apple-system"/>
              </a:rPr>
              <a:t>Python's </a:t>
            </a:r>
            <a:r>
              <a:rPr lang="en-US" b="0" i="0" dirty="0" err="1">
                <a:effectLst/>
                <a:latin typeface="-apple-system"/>
              </a:rPr>
              <a:t>ast</a:t>
            </a:r>
            <a:r>
              <a:rPr lang="en-US" b="0" i="0" dirty="0">
                <a:effectLst/>
                <a:latin typeface="-apple-system"/>
              </a:rPr>
              <a:t> module provides the parse() function to convert source code into an AST. This is the first step in working with ASTs and allows us to examine the structure of our code programmatically.</a:t>
            </a:r>
          </a:p>
          <a:p>
            <a:pPr>
              <a:buNone/>
            </a:pPr>
            <a:br>
              <a:rPr lang="en-US" b="0" i="0" dirty="0">
                <a:effectLst/>
                <a:latin typeface="ui-monospace"/>
              </a:rPr>
            </a:br>
            <a:endParaRPr lang="en-IN" dirty="0"/>
          </a:p>
        </p:txBody>
      </p:sp>
      <p:sp>
        <p:nvSpPr>
          <p:cNvPr id="7" name="TextBox 6">
            <a:extLst>
              <a:ext uri="{FF2B5EF4-FFF2-40B4-BE49-F238E27FC236}">
                <a16:creationId xmlns:a16="http://schemas.microsoft.com/office/drawing/2014/main" id="{B6B9C267-326C-FE46-7F47-5F6DD3BDA846}"/>
              </a:ext>
            </a:extLst>
          </p:cNvPr>
          <p:cNvSpPr txBox="1"/>
          <p:nvPr/>
        </p:nvSpPr>
        <p:spPr>
          <a:xfrm>
            <a:off x="629264" y="2047763"/>
            <a:ext cx="6096000" cy="3416320"/>
          </a:xfrm>
          <a:prstGeom prst="rect">
            <a:avLst/>
          </a:prstGeom>
          <a:noFill/>
        </p:spPr>
        <p:txBody>
          <a:bodyPr wrap="square">
            <a:spAutoFit/>
          </a:bodyPr>
          <a:lstStyle/>
          <a:p>
            <a:r>
              <a:rPr lang="en-IN" dirty="0"/>
              <a:t>import </a:t>
            </a:r>
            <a:r>
              <a:rPr lang="en-IN" dirty="0" err="1"/>
              <a:t>ast</a:t>
            </a:r>
            <a:endParaRPr lang="en-IN" dirty="0"/>
          </a:p>
          <a:p>
            <a:endParaRPr lang="en-IN" dirty="0"/>
          </a:p>
          <a:p>
            <a:r>
              <a:rPr lang="en-IN" dirty="0"/>
              <a:t># Parse a more complex Python code snippet</a:t>
            </a:r>
          </a:p>
          <a:p>
            <a:r>
              <a:rPr lang="en-IN" dirty="0"/>
              <a:t>code = """</a:t>
            </a:r>
          </a:p>
          <a:p>
            <a:r>
              <a:rPr lang="en-IN" dirty="0"/>
              <a:t>def greet(name):</a:t>
            </a:r>
          </a:p>
          <a:p>
            <a:r>
              <a:rPr lang="en-IN" dirty="0"/>
              <a:t>    return </a:t>
            </a:r>
            <a:r>
              <a:rPr lang="en-IN" dirty="0" err="1"/>
              <a:t>f"Hello</a:t>
            </a:r>
            <a:r>
              <a:rPr lang="en-IN" dirty="0"/>
              <a:t>, {name}!"</a:t>
            </a:r>
          </a:p>
          <a:p>
            <a:endParaRPr lang="en-IN" dirty="0"/>
          </a:p>
          <a:p>
            <a:r>
              <a:rPr lang="en-IN" dirty="0"/>
              <a:t>print(greet("World"))</a:t>
            </a:r>
          </a:p>
          <a:p>
            <a:r>
              <a:rPr lang="en-IN" dirty="0"/>
              <a:t>"""</a:t>
            </a:r>
          </a:p>
          <a:p>
            <a:endParaRPr lang="en-IN" dirty="0"/>
          </a:p>
          <a:p>
            <a:r>
              <a:rPr lang="en-IN" dirty="0"/>
              <a:t>tree = </a:t>
            </a:r>
            <a:r>
              <a:rPr lang="en-IN" dirty="0" err="1"/>
              <a:t>ast.parse</a:t>
            </a:r>
            <a:r>
              <a:rPr lang="en-IN" dirty="0"/>
              <a:t>(code)</a:t>
            </a:r>
          </a:p>
          <a:p>
            <a:r>
              <a:rPr lang="en-IN" dirty="0"/>
              <a:t>print(</a:t>
            </a:r>
            <a:r>
              <a:rPr lang="en-IN" dirty="0" err="1"/>
              <a:t>ast.dump</a:t>
            </a:r>
            <a:r>
              <a:rPr lang="en-IN" dirty="0"/>
              <a:t>(tree, indent=2))</a:t>
            </a:r>
          </a:p>
        </p:txBody>
      </p:sp>
    </p:spTree>
    <p:extLst>
      <p:ext uri="{BB962C8B-B14F-4D97-AF65-F5344CB8AC3E}">
        <p14:creationId xmlns:p14="http://schemas.microsoft.com/office/powerpoint/2010/main" val="929661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1057</Words>
  <Application>Microsoft Office PowerPoint</Application>
  <PresentationFormat>Widescreen</PresentationFormat>
  <Paragraphs>158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-apple-system</vt:lpstr>
      <vt:lpstr>Arial</vt:lpstr>
      <vt:lpstr>Arial Unicode MS</vt:lpstr>
      <vt:lpstr>Calibri</vt:lpstr>
      <vt:lpstr>Calibri Light</vt:lpstr>
      <vt:lpstr>Courier New</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bhutani</dc:creator>
  <cp:lastModifiedBy>simran bhutani</cp:lastModifiedBy>
  <cp:revision>4</cp:revision>
  <dcterms:created xsi:type="dcterms:W3CDTF">2026-02-05T11:23:43Z</dcterms:created>
  <dcterms:modified xsi:type="dcterms:W3CDTF">2026-02-05T16:53:27Z</dcterms:modified>
</cp:coreProperties>
</file>